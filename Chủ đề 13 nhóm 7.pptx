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Times New Roman Bold" charset="1" panose="02020803070505020304"/>
      <p:regular r:id="rId31"/>
    </p:embeddedFont>
    <p:embeddedFont>
      <p:font typeface="Times New Roman" charset="1" panose="020206030504050203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6.png" Type="http://schemas.openxmlformats.org/officeDocument/2006/relationships/image"/><Relationship Id="rId6"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6.png" Type="http://schemas.openxmlformats.org/officeDocument/2006/relationships/image"/><Relationship Id="rId6"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6.png" Type="http://schemas.openxmlformats.org/officeDocument/2006/relationships/image"/><Relationship Id="rId6"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6.png" Type="http://schemas.openxmlformats.org/officeDocument/2006/relationships/image"/><Relationship Id="rId6" Target="../media/image2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37.jpeg" Type="http://schemas.openxmlformats.org/officeDocument/2006/relationships/image"/><Relationship Id="rId5" Target="../media/VAHXm5pLSSo.mp4" Type="http://schemas.openxmlformats.org/officeDocument/2006/relationships/video"/><Relationship Id="rId6" Target="../media/VAHXm5pLSSo.mp4" Type="http://schemas.microsoft.com/office/2007/relationships/media"/></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05755" y="3357353"/>
            <a:ext cx="18939059" cy="2882665"/>
            <a:chOff x="0" y="0"/>
            <a:chExt cx="4988065" cy="759220"/>
          </a:xfrm>
        </p:grpSpPr>
        <p:sp>
          <p:nvSpPr>
            <p:cNvPr name="Freeform 4" id="4"/>
            <p:cNvSpPr/>
            <p:nvPr/>
          </p:nvSpPr>
          <p:spPr>
            <a:xfrm flipH="false" flipV="false" rot="0">
              <a:off x="0" y="0"/>
              <a:ext cx="4988065" cy="759220"/>
            </a:xfrm>
            <a:custGeom>
              <a:avLst/>
              <a:gdLst/>
              <a:ahLst/>
              <a:cxnLst/>
              <a:rect r="r" b="b" t="t" l="l"/>
              <a:pathLst>
                <a:path h="759220" w="4988065">
                  <a:moveTo>
                    <a:pt x="0" y="0"/>
                  </a:moveTo>
                  <a:lnTo>
                    <a:pt x="4988065" y="0"/>
                  </a:lnTo>
                  <a:lnTo>
                    <a:pt x="4988065" y="759220"/>
                  </a:lnTo>
                  <a:lnTo>
                    <a:pt x="0" y="759220"/>
                  </a:lnTo>
                  <a:close/>
                </a:path>
              </a:pathLst>
            </a:custGeom>
            <a:solidFill>
              <a:srgbClr val="2B59C3">
                <a:alpha val="71765"/>
              </a:srgbClr>
            </a:solidFill>
          </p:spPr>
        </p:sp>
        <p:sp>
          <p:nvSpPr>
            <p:cNvPr name="TextBox 5" id="5"/>
            <p:cNvSpPr txBox="true"/>
            <p:nvPr/>
          </p:nvSpPr>
          <p:spPr>
            <a:xfrm>
              <a:off x="0" y="19050"/>
              <a:ext cx="4988065" cy="740170"/>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4324895" y="1902376"/>
            <a:ext cx="6379233" cy="8140553"/>
          </a:xfrm>
          <a:custGeom>
            <a:avLst/>
            <a:gdLst/>
            <a:ahLst/>
            <a:cxnLst/>
            <a:rect r="r" b="b" t="t" l="l"/>
            <a:pathLst>
              <a:path h="8140553" w="6379233">
                <a:moveTo>
                  <a:pt x="0" y="0"/>
                </a:moveTo>
                <a:lnTo>
                  <a:pt x="6379234" y="0"/>
                </a:lnTo>
                <a:lnTo>
                  <a:pt x="6379234" y="8140553"/>
                </a:lnTo>
                <a:lnTo>
                  <a:pt x="0" y="81405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010810" y="-155024"/>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0">
            <a:off x="12417225" y="6172200"/>
            <a:ext cx="6775868" cy="4114800"/>
          </a:xfrm>
          <a:custGeom>
            <a:avLst/>
            <a:gdLst/>
            <a:ahLst/>
            <a:cxnLst/>
            <a:rect r="r" b="b" t="t" l="l"/>
            <a:pathLst>
              <a:path h="4114800" w="6775868">
                <a:moveTo>
                  <a:pt x="6775869" y="4114800"/>
                </a:moveTo>
                <a:lnTo>
                  <a:pt x="0" y="4114800"/>
                </a:lnTo>
                <a:lnTo>
                  <a:pt x="0" y="0"/>
                </a:lnTo>
                <a:lnTo>
                  <a:pt x="6775869" y="0"/>
                </a:lnTo>
                <a:lnTo>
                  <a:pt x="6775869"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263774" y="-842039"/>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0" y="7694994"/>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7">
              <a:alphaModFix amt="71000"/>
            </a:blip>
            <a:stretch>
              <a:fillRect l="0" t="0" r="0" b="0"/>
            </a:stretch>
          </a:blipFill>
        </p:spPr>
      </p:sp>
      <p:sp>
        <p:nvSpPr>
          <p:cNvPr name="Freeform 11" id="11"/>
          <p:cNvSpPr/>
          <p:nvPr/>
        </p:nvSpPr>
        <p:spPr>
          <a:xfrm flipH="false" flipV="false" rot="0">
            <a:off x="-246058" y="1259935"/>
            <a:ext cx="2549517" cy="2585062"/>
          </a:xfrm>
          <a:custGeom>
            <a:avLst/>
            <a:gdLst/>
            <a:ahLst/>
            <a:cxnLst/>
            <a:rect r="r" b="b" t="t" l="l"/>
            <a:pathLst>
              <a:path h="2585062" w="2549517">
                <a:moveTo>
                  <a:pt x="0" y="0"/>
                </a:moveTo>
                <a:lnTo>
                  <a:pt x="2549516" y="0"/>
                </a:lnTo>
                <a:lnTo>
                  <a:pt x="2549516" y="2585062"/>
                </a:lnTo>
                <a:lnTo>
                  <a:pt x="0" y="2585062"/>
                </a:lnTo>
                <a:lnTo>
                  <a:pt x="0" y="0"/>
                </a:lnTo>
                <a:close/>
              </a:path>
            </a:pathLst>
          </a:custGeom>
          <a:blipFill>
            <a:blip r:embed="rId7">
              <a:alphaModFix amt="71000"/>
            </a:blip>
            <a:stretch>
              <a:fillRect l="0" t="0" r="0" b="0"/>
            </a:stretch>
          </a:blipFill>
        </p:spPr>
      </p:sp>
      <p:sp>
        <p:nvSpPr>
          <p:cNvPr name="Freeform 12" id="12"/>
          <p:cNvSpPr/>
          <p:nvPr/>
        </p:nvSpPr>
        <p:spPr>
          <a:xfrm flipH="false" flipV="false" rot="0">
            <a:off x="2660616" y="1374714"/>
            <a:ext cx="527662" cy="527662"/>
          </a:xfrm>
          <a:custGeom>
            <a:avLst/>
            <a:gdLst/>
            <a:ahLst/>
            <a:cxnLst/>
            <a:rect r="r" b="b" t="t" l="l"/>
            <a:pathLst>
              <a:path h="527662" w="527662">
                <a:moveTo>
                  <a:pt x="0" y="0"/>
                </a:moveTo>
                <a:lnTo>
                  <a:pt x="527661" y="0"/>
                </a:lnTo>
                <a:lnTo>
                  <a:pt x="527661" y="527662"/>
                </a:lnTo>
                <a:lnTo>
                  <a:pt x="0" y="5276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60264" y="3598840"/>
            <a:ext cx="14385159" cy="2069163"/>
          </a:xfrm>
          <a:prstGeom prst="rect">
            <a:avLst/>
          </a:prstGeom>
        </p:spPr>
        <p:txBody>
          <a:bodyPr anchor="t" rtlCol="false" tIns="0" lIns="0" bIns="0" rIns="0">
            <a:spAutoFit/>
          </a:bodyPr>
          <a:lstStyle/>
          <a:p>
            <a:pPr algn="ctr">
              <a:lnSpc>
                <a:spcPts val="8074"/>
              </a:lnSpc>
              <a:spcBef>
                <a:spcPct val="0"/>
              </a:spcBef>
            </a:pPr>
            <a:r>
              <a:rPr lang="en-US" b="true" sz="6618">
                <a:solidFill>
                  <a:srgbClr val="FEFEFE"/>
                </a:solidFill>
                <a:latin typeface="Times New Roman Bold"/>
                <a:ea typeface="Times New Roman Bold"/>
                <a:cs typeface="Times New Roman Bold"/>
                <a:sym typeface="Times New Roman Bold"/>
              </a:rPr>
              <a:t>CHỦ ĐỀ 13: QUẢN LÝ DANH SÁCH ĐƠN HÀNG BÁN LẺ</a:t>
            </a:r>
          </a:p>
        </p:txBody>
      </p:sp>
      <p:sp>
        <p:nvSpPr>
          <p:cNvPr name="TextBox 14" id="14"/>
          <p:cNvSpPr txBox="true"/>
          <p:nvPr/>
        </p:nvSpPr>
        <p:spPr>
          <a:xfrm rot="0">
            <a:off x="5682386" y="5645758"/>
            <a:ext cx="3461614" cy="1090985"/>
          </a:xfrm>
          <a:prstGeom prst="rect">
            <a:avLst/>
          </a:prstGeom>
        </p:spPr>
        <p:txBody>
          <a:bodyPr anchor="t" rtlCol="false" tIns="0" lIns="0" bIns="0" rIns="0">
            <a:spAutoFit/>
          </a:bodyPr>
          <a:lstStyle/>
          <a:p>
            <a:pPr algn="ctr">
              <a:lnSpc>
                <a:spcPts val="4162"/>
              </a:lnSpc>
            </a:pPr>
            <a:r>
              <a:rPr lang="en-US" sz="4002">
                <a:solidFill>
                  <a:srgbClr val="000000"/>
                </a:solidFill>
                <a:latin typeface="Times New Roman"/>
                <a:ea typeface="Times New Roman"/>
                <a:cs typeface="Times New Roman"/>
                <a:sym typeface="Times New Roman"/>
              </a:rPr>
              <a:t>(Nhóm 7)</a:t>
            </a:r>
          </a:p>
          <a:p>
            <a:pPr algn="ctr">
              <a:lnSpc>
                <a:spcPts val="4162"/>
              </a:lnSpc>
              <a:spcBef>
                <a:spcPct val="0"/>
              </a:spcBef>
            </a:pPr>
          </a:p>
        </p:txBody>
      </p:sp>
      <p:sp>
        <p:nvSpPr>
          <p:cNvPr name="Freeform 15" id="15"/>
          <p:cNvSpPr/>
          <p:nvPr/>
        </p:nvSpPr>
        <p:spPr>
          <a:xfrm flipH="false" flipV="false" rot="0">
            <a:off x="11142467" y="7701938"/>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5887720" y="-811995"/>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4" id="4"/>
          <p:cNvGrpSpPr/>
          <p:nvPr/>
        </p:nvGrpSpPr>
        <p:grpSpPr>
          <a:xfrm rot="0">
            <a:off x="2817914" y="8938169"/>
            <a:ext cx="14728021" cy="1464829"/>
            <a:chOff x="0" y="0"/>
            <a:chExt cx="3878985" cy="385799"/>
          </a:xfrm>
        </p:grpSpPr>
        <p:sp>
          <p:nvSpPr>
            <p:cNvPr name="Freeform 5" id="5"/>
            <p:cNvSpPr/>
            <p:nvPr/>
          </p:nvSpPr>
          <p:spPr>
            <a:xfrm flipH="false" flipV="false" rot="0">
              <a:off x="0" y="0"/>
              <a:ext cx="3878985" cy="385799"/>
            </a:xfrm>
            <a:custGeom>
              <a:avLst/>
              <a:gdLst/>
              <a:ahLst/>
              <a:cxnLst/>
              <a:rect r="r" b="b" t="t" l="l"/>
              <a:pathLst>
                <a:path h="385799" w="3878985">
                  <a:moveTo>
                    <a:pt x="0" y="0"/>
                  </a:moveTo>
                  <a:lnTo>
                    <a:pt x="3878985" y="0"/>
                  </a:lnTo>
                  <a:lnTo>
                    <a:pt x="3878985" y="385799"/>
                  </a:lnTo>
                  <a:lnTo>
                    <a:pt x="0" y="385799"/>
                  </a:lnTo>
                  <a:close/>
                </a:path>
              </a:pathLst>
            </a:custGeom>
            <a:solidFill>
              <a:srgbClr val="2B59C3">
                <a:alpha val="71765"/>
              </a:srgbClr>
            </a:solidFill>
          </p:spPr>
        </p:sp>
        <p:sp>
          <p:nvSpPr>
            <p:cNvPr name="TextBox 6" id="6"/>
            <p:cNvSpPr txBox="true"/>
            <p:nvPr/>
          </p:nvSpPr>
          <p:spPr>
            <a:xfrm>
              <a:off x="0" y="19050"/>
              <a:ext cx="3878985" cy="366749"/>
            </a:xfrm>
            <a:prstGeom prst="rect">
              <a:avLst/>
            </a:prstGeom>
          </p:spPr>
          <p:txBody>
            <a:bodyPr anchor="ctr" rtlCol="false" tIns="50800" lIns="50800" bIns="50800" rIns="50800"/>
            <a:lstStyle/>
            <a:p>
              <a:pPr algn="ctr">
                <a:lnSpc>
                  <a:spcPts val="2661"/>
                </a:lnSpc>
              </a:pPr>
            </a:p>
          </p:txBody>
        </p:sp>
      </p:grpSp>
      <p:sp>
        <p:nvSpPr>
          <p:cNvPr name="Freeform 7" id="7"/>
          <p:cNvSpPr/>
          <p:nvPr/>
        </p:nvSpPr>
        <p:spPr>
          <a:xfrm flipH="false" flipV="false" rot="0">
            <a:off x="0" y="2593869"/>
            <a:ext cx="4237980" cy="4718399"/>
          </a:xfrm>
          <a:custGeom>
            <a:avLst/>
            <a:gdLst/>
            <a:ahLst/>
            <a:cxnLst/>
            <a:rect r="r" b="b" t="t" l="l"/>
            <a:pathLst>
              <a:path h="4718399" w="4237980">
                <a:moveTo>
                  <a:pt x="0" y="0"/>
                </a:moveTo>
                <a:lnTo>
                  <a:pt x="4237980" y="0"/>
                </a:lnTo>
                <a:lnTo>
                  <a:pt x="4237980" y="4718399"/>
                </a:lnTo>
                <a:lnTo>
                  <a:pt x="0" y="4718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72581" y="5777357"/>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9" id="9"/>
          <p:cNvSpPr/>
          <p:nvPr/>
        </p:nvSpPr>
        <p:spPr>
          <a:xfrm flipH="true" flipV="true" rot="0">
            <a:off x="14158001" y="6463808"/>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4093852" y="423131"/>
            <a:ext cx="13831478" cy="10692766"/>
          </a:xfrm>
          <a:prstGeom prst="rect">
            <a:avLst/>
          </a:prstGeom>
        </p:spPr>
        <p:txBody>
          <a:bodyPr anchor="t" rtlCol="false" tIns="0" lIns="0" bIns="0" rIns="0">
            <a:spAutoFit/>
          </a:bodyPr>
          <a:lstStyle/>
          <a:p>
            <a:pPr algn="just">
              <a:lnSpc>
                <a:spcPts val="10919"/>
              </a:lnSpc>
              <a:spcBef>
                <a:spcPct val="0"/>
              </a:spcBef>
            </a:pPr>
            <a:r>
              <a:rPr lang="en-US" b="true" sz="6499">
                <a:solidFill>
                  <a:srgbClr val="000000"/>
                </a:solidFill>
                <a:latin typeface="Times New Roman Bold"/>
                <a:ea typeface="Times New Roman Bold"/>
                <a:cs typeface="Times New Roman Bold"/>
                <a:sym typeface="Times New Roman Bold"/>
              </a:rPr>
              <a:t>              </a:t>
            </a:r>
            <a:r>
              <a:rPr lang="en-US" b="true" sz="6499">
                <a:solidFill>
                  <a:srgbClr val="000000"/>
                </a:solidFill>
                <a:latin typeface="Times New Roman Bold"/>
                <a:ea typeface="Times New Roman Bold"/>
                <a:cs typeface="Times New Roman Bold"/>
                <a:sym typeface="Times New Roman Bold"/>
              </a:rPr>
              <a:t>NỘI DUNG</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TỔNG QUAN VỀ ĐỀ TÀI</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CƠ SỞ LÝ THUYẾT</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PHÂN TÍCH VÀ THIẾT KẾ CHƯƠNG TRÌNH</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TRIỂN KHAI CHƯƠNG TRÌNH</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DEMO CHƯƠNG TRÌNH CHẠY CODE</a:t>
            </a:r>
          </a:p>
          <a:p>
            <a:pPr algn="just" marL="1014737" indent="-507369" lvl="1">
              <a:lnSpc>
                <a:spcPts val="7896"/>
              </a:lnSpc>
              <a:spcBef>
                <a:spcPct val="0"/>
              </a:spcBef>
              <a:buAutoNum type="arabicPeriod" startAt="1"/>
            </a:pPr>
            <a:r>
              <a:rPr lang="en-US" sz="4700">
                <a:solidFill>
                  <a:srgbClr val="000000"/>
                </a:solidFill>
                <a:latin typeface="Times New Roman"/>
                <a:ea typeface="Times New Roman"/>
                <a:cs typeface="Times New Roman"/>
                <a:sym typeface="Times New Roman"/>
              </a:rPr>
              <a:t>KẾT LUẬN</a:t>
            </a:r>
          </a:p>
          <a:p>
            <a:pPr algn="just">
              <a:lnSpc>
                <a:spcPts val="7896"/>
              </a:lnSpc>
              <a:spcBef>
                <a:spcPct val="0"/>
              </a:spcBef>
            </a:pPr>
          </a:p>
          <a:p>
            <a:pPr algn="just">
              <a:lnSpc>
                <a:spcPts val="9239"/>
              </a:lnSpc>
              <a:spcBef>
                <a:spcPct val="0"/>
              </a:spcBef>
            </a:pPr>
          </a:p>
          <a:p>
            <a:pPr algn="ctr">
              <a:lnSpc>
                <a:spcPts val="923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33532" y="265543"/>
            <a:ext cx="527662" cy="527662"/>
          </a:xfrm>
          <a:custGeom>
            <a:avLst/>
            <a:gdLst/>
            <a:ahLst/>
            <a:cxnLst/>
            <a:rect r="r" b="b" t="t" l="l"/>
            <a:pathLst>
              <a:path h="527662" w="527662">
                <a:moveTo>
                  <a:pt x="0" y="0"/>
                </a:moveTo>
                <a:lnTo>
                  <a:pt x="527661" y="0"/>
                </a:lnTo>
                <a:lnTo>
                  <a:pt x="527661" y="527662"/>
                </a:lnTo>
                <a:lnTo>
                  <a:pt x="0" y="527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990178" y="4282169"/>
            <a:ext cx="3313667" cy="1662858"/>
          </a:xfrm>
          <a:custGeom>
            <a:avLst/>
            <a:gdLst/>
            <a:ahLst/>
            <a:cxnLst/>
            <a:rect r="r" b="b" t="t" l="l"/>
            <a:pathLst>
              <a:path h="1662858" w="3313667">
                <a:moveTo>
                  <a:pt x="0" y="0"/>
                </a:moveTo>
                <a:lnTo>
                  <a:pt x="3313667" y="0"/>
                </a:lnTo>
                <a:lnTo>
                  <a:pt x="3313667" y="1662858"/>
                </a:lnTo>
                <a:lnTo>
                  <a:pt x="0" y="16628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5781804" y="2397771"/>
            <a:ext cx="3633946" cy="6207051"/>
          </a:xfrm>
          <a:custGeom>
            <a:avLst/>
            <a:gdLst/>
            <a:ahLst/>
            <a:cxnLst/>
            <a:rect r="r" b="b" t="t" l="l"/>
            <a:pathLst>
              <a:path h="6207051" w="3633946">
                <a:moveTo>
                  <a:pt x="3633946" y="0"/>
                </a:moveTo>
                <a:lnTo>
                  <a:pt x="0" y="0"/>
                </a:lnTo>
                <a:lnTo>
                  <a:pt x="0" y="6207050"/>
                </a:lnTo>
                <a:lnTo>
                  <a:pt x="3633946" y="6207050"/>
                </a:lnTo>
                <a:lnTo>
                  <a:pt x="363394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323672" y="1334243"/>
            <a:ext cx="4550211" cy="2283379"/>
          </a:xfrm>
          <a:custGeom>
            <a:avLst/>
            <a:gdLst/>
            <a:ahLst/>
            <a:cxnLst/>
            <a:rect r="r" b="b" t="t" l="l"/>
            <a:pathLst>
              <a:path h="2283379" w="4550211">
                <a:moveTo>
                  <a:pt x="0" y="0"/>
                </a:moveTo>
                <a:lnTo>
                  <a:pt x="4550211" y="0"/>
                </a:lnTo>
                <a:lnTo>
                  <a:pt x="4550211" y="2283378"/>
                </a:lnTo>
                <a:lnTo>
                  <a:pt x="0" y="22833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303845" y="8090545"/>
            <a:ext cx="3870235" cy="1942155"/>
          </a:xfrm>
          <a:custGeom>
            <a:avLst/>
            <a:gdLst/>
            <a:ahLst/>
            <a:cxnLst/>
            <a:rect r="r" b="b" t="t" l="l"/>
            <a:pathLst>
              <a:path h="1942155" w="3870235">
                <a:moveTo>
                  <a:pt x="0" y="0"/>
                </a:moveTo>
                <a:lnTo>
                  <a:pt x="3870235" y="0"/>
                </a:lnTo>
                <a:lnTo>
                  <a:pt x="3870235" y="1942154"/>
                </a:lnTo>
                <a:lnTo>
                  <a:pt x="0" y="19421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845531" y="163854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9">
              <a:alphaModFix amt="71000"/>
            </a:blip>
            <a:stretch>
              <a:fillRect l="0" t="0" r="0" b="0"/>
            </a:stretch>
          </a:blipFill>
        </p:spPr>
      </p:sp>
      <p:sp>
        <p:nvSpPr>
          <p:cNvPr name="TextBox 9" id="9"/>
          <p:cNvSpPr txBox="true"/>
          <p:nvPr/>
        </p:nvSpPr>
        <p:spPr>
          <a:xfrm rot="0">
            <a:off x="333532" y="1286618"/>
            <a:ext cx="13109466" cy="7959460"/>
          </a:xfrm>
          <a:prstGeom prst="rect">
            <a:avLst/>
          </a:prstGeom>
        </p:spPr>
        <p:txBody>
          <a:bodyPr anchor="t" rtlCol="false" tIns="0" lIns="0" bIns="0" rIns="0">
            <a:spAutoFit/>
          </a:bodyPr>
          <a:lstStyle/>
          <a:p>
            <a:pPr algn="l">
              <a:lnSpc>
                <a:spcPts val="4033"/>
              </a:lnSpc>
            </a:pPr>
          </a:p>
          <a:p>
            <a:pPr algn="l">
              <a:lnSpc>
                <a:spcPts val="6399"/>
              </a:lnSpc>
            </a:pPr>
            <a:r>
              <a:rPr lang="en-US" sz="4999">
                <a:solidFill>
                  <a:srgbClr val="063050"/>
                </a:solidFill>
                <a:latin typeface="Times New Roman"/>
                <a:ea typeface="Times New Roman"/>
                <a:cs typeface="Times New Roman"/>
                <a:sym typeface="Times New Roman"/>
              </a:rPr>
              <a:t>1.1 Lý do chọn đề tài</a:t>
            </a:r>
          </a:p>
          <a:p>
            <a:pPr algn="l" marL="971550" indent="-485775" lvl="1">
              <a:lnSpc>
                <a:spcPts val="7020"/>
              </a:lnSpc>
              <a:buFont typeface="Arial"/>
              <a:buChar char="•"/>
            </a:pPr>
            <a:r>
              <a:rPr lang="en-US" sz="4500">
                <a:solidFill>
                  <a:srgbClr val="063050"/>
                </a:solidFill>
                <a:latin typeface="Times New Roman"/>
                <a:ea typeface="Times New Roman"/>
                <a:cs typeface="Times New Roman"/>
                <a:sym typeface="Times New Roman"/>
              </a:rPr>
              <a:t>Thực tế: Giúp tự động hóa quản lý đơn hàng bán lẻ, tránh nhầm lẫn và mất thời gian so với ghi chép thủ công.</a:t>
            </a:r>
          </a:p>
          <a:p>
            <a:pPr algn="l" marL="971550" indent="-485775" lvl="1">
              <a:lnSpc>
                <a:spcPts val="7020"/>
              </a:lnSpc>
              <a:buFont typeface="Arial"/>
              <a:buChar char="•"/>
            </a:pPr>
            <a:r>
              <a:rPr lang="en-US" sz="4500">
                <a:solidFill>
                  <a:srgbClr val="063050"/>
                </a:solidFill>
                <a:latin typeface="Times New Roman"/>
                <a:ea typeface="Times New Roman"/>
                <a:cs typeface="Times New Roman"/>
                <a:sym typeface="Times New Roman"/>
              </a:rPr>
              <a:t>Học thuật: Áp dụng kiến thức lập trình hướng đối tượng trong C++ (lớp, đối tượng, đóng gói, mảng đối tượng).</a:t>
            </a:r>
          </a:p>
          <a:p>
            <a:pPr algn="l">
              <a:lnSpc>
                <a:spcPts val="6399"/>
              </a:lnSpc>
            </a:pPr>
          </a:p>
          <a:p>
            <a:pPr algn="l">
              <a:lnSpc>
                <a:spcPts val="4033"/>
              </a:lnSpc>
            </a:pPr>
          </a:p>
        </p:txBody>
      </p:sp>
      <p:sp>
        <p:nvSpPr>
          <p:cNvPr name="Freeform 10" id="10"/>
          <p:cNvSpPr/>
          <p:nvPr/>
        </p:nvSpPr>
        <p:spPr>
          <a:xfrm flipH="false" flipV="false" rot="0">
            <a:off x="-1845989" y="529016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9">
              <a:alphaModFix amt="71000"/>
            </a:blip>
            <a:stretch>
              <a:fillRect l="0" t="0" r="0" b="0"/>
            </a:stretch>
          </a:blipFill>
        </p:spPr>
      </p:sp>
      <p:grpSp>
        <p:nvGrpSpPr>
          <p:cNvPr name="Group 11" id="11"/>
          <p:cNvGrpSpPr/>
          <p:nvPr/>
        </p:nvGrpSpPr>
        <p:grpSpPr>
          <a:xfrm rot="0">
            <a:off x="-3023029" y="-350159"/>
            <a:ext cx="21311029" cy="1684401"/>
            <a:chOff x="0" y="0"/>
            <a:chExt cx="5612781" cy="443628"/>
          </a:xfrm>
        </p:grpSpPr>
        <p:sp>
          <p:nvSpPr>
            <p:cNvPr name="Freeform 12" id="12"/>
            <p:cNvSpPr/>
            <p:nvPr/>
          </p:nvSpPr>
          <p:spPr>
            <a:xfrm flipH="false" flipV="false" rot="0">
              <a:off x="0" y="0"/>
              <a:ext cx="5612781" cy="443628"/>
            </a:xfrm>
            <a:custGeom>
              <a:avLst/>
              <a:gdLst/>
              <a:ahLst/>
              <a:cxnLst/>
              <a:rect r="r" b="b" t="t" l="l"/>
              <a:pathLst>
                <a:path h="443628" w="5612781">
                  <a:moveTo>
                    <a:pt x="0" y="0"/>
                  </a:moveTo>
                  <a:lnTo>
                    <a:pt x="5612781" y="0"/>
                  </a:lnTo>
                  <a:lnTo>
                    <a:pt x="5612781" y="443628"/>
                  </a:lnTo>
                  <a:lnTo>
                    <a:pt x="0" y="443628"/>
                  </a:lnTo>
                  <a:close/>
                </a:path>
              </a:pathLst>
            </a:custGeom>
            <a:solidFill>
              <a:srgbClr val="2B59C3">
                <a:alpha val="71765"/>
              </a:srgbClr>
            </a:solidFill>
          </p:spPr>
        </p:sp>
        <p:sp>
          <p:nvSpPr>
            <p:cNvPr name="TextBox 13" id="13"/>
            <p:cNvSpPr txBox="true"/>
            <p:nvPr/>
          </p:nvSpPr>
          <p:spPr>
            <a:xfrm>
              <a:off x="0" y="19050"/>
              <a:ext cx="5612781" cy="424578"/>
            </a:xfrm>
            <a:prstGeom prst="rect">
              <a:avLst/>
            </a:prstGeom>
          </p:spPr>
          <p:txBody>
            <a:bodyPr anchor="ctr" rtlCol="false" tIns="50800" lIns="50800" bIns="50800" rIns="50800"/>
            <a:lstStyle/>
            <a:p>
              <a:pPr algn="ctr">
                <a:lnSpc>
                  <a:spcPts val="2661"/>
                </a:lnSpc>
              </a:pPr>
            </a:p>
          </p:txBody>
        </p:sp>
      </p:grpSp>
      <p:sp>
        <p:nvSpPr>
          <p:cNvPr name="TextBox 14" id="14"/>
          <p:cNvSpPr txBox="true"/>
          <p:nvPr/>
        </p:nvSpPr>
        <p:spPr>
          <a:xfrm rot="0">
            <a:off x="1028700" y="355690"/>
            <a:ext cx="17210263" cy="855345"/>
          </a:xfrm>
          <a:prstGeom prst="rect">
            <a:avLst/>
          </a:prstGeom>
        </p:spPr>
        <p:txBody>
          <a:bodyPr anchor="t" rtlCol="false" tIns="0" lIns="0" bIns="0" rIns="0">
            <a:spAutoFit/>
          </a:bodyPr>
          <a:lstStyle/>
          <a:p>
            <a:pPr algn="l">
              <a:lnSpc>
                <a:spcPts val="6240"/>
              </a:lnSpc>
              <a:spcBef>
                <a:spcPct val="0"/>
              </a:spcBef>
            </a:pPr>
            <a:r>
              <a:rPr lang="en-US" b="true" sz="6000">
                <a:solidFill>
                  <a:srgbClr val="063050"/>
                </a:solidFill>
                <a:latin typeface="Times New Roman Bold"/>
                <a:ea typeface="Times New Roman Bold"/>
                <a:cs typeface="Times New Roman Bold"/>
                <a:sym typeface="Times New Roman Bold"/>
              </a:rPr>
              <a:t>1.TỔNG QUAN VỀ ĐỀ TÀI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33532" y="265543"/>
            <a:ext cx="527662" cy="527662"/>
          </a:xfrm>
          <a:custGeom>
            <a:avLst/>
            <a:gdLst/>
            <a:ahLst/>
            <a:cxnLst/>
            <a:rect r="r" b="b" t="t" l="l"/>
            <a:pathLst>
              <a:path h="527662" w="527662">
                <a:moveTo>
                  <a:pt x="0" y="0"/>
                </a:moveTo>
                <a:lnTo>
                  <a:pt x="527661" y="0"/>
                </a:lnTo>
                <a:lnTo>
                  <a:pt x="527661" y="527662"/>
                </a:lnTo>
                <a:lnTo>
                  <a:pt x="0" y="527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845531" y="163854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5">
              <a:alphaModFix amt="71000"/>
            </a:blip>
            <a:stretch>
              <a:fillRect l="0" t="0" r="0" b="0"/>
            </a:stretch>
          </a:blipFill>
        </p:spPr>
      </p:sp>
      <p:sp>
        <p:nvSpPr>
          <p:cNvPr name="TextBox 5" id="5"/>
          <p:cNvSpPr txBox="true"/>
          <p:nvPr/>
        </p:nvSpPr>
        <p:spPr>
          <a:xfrm rot="0">
            <a:off x="1077752" y="1552820"/>
            <a:ext cx="13109466" cy="8549612"/>
          </a:xfrm>
          <a:prstGeom prst="rect">
            <a:avLst/>
          </a:prstGeom>
        </p:spPr>
        <p:txBody>
          <a:bodyPr anchor="t" rtlCol="false" tIns="0" lIns="0" bIns="0" rIns="0">
            <a:spAutoFit/>
          </a:bodyPr>
          <a:lstStyle/>
          <a:p>
            <a:pPr algn="l">
              <a:lnSpc>
                <a:spcPts val="4411"/>
              </a:lnSpc>
            </a:pPr>
          </a:p>
          <a:p>
            <a:pPr algn="l">
              <a:lnSpc>
                <a:spcPts val="8249"/>
              </a:lnSpc>
            </a:pPr>
            <a:r>
              <a:rPr lang="en-US" sz="4999">
                <a:solidFill>
                  <a:srgbClr val="063050"/>
                </a:solidFill>
                <a:latin typeface="Times New Roman"/>
                <a:ea typeface="Times New Roman"/>
                <a:cs typeface="Times New Roman"/>
                <a:sym typeface="Times New Roman"/>
              </a:rPr>
              <a:t>1.2 Mục tiêu đề tài</a:t>
            </a:r>
          </a:p>
          <a:p>
            <a:pPr algn="l" marL="971550" indent="-485775" lvl="1">
              <a:lnSpc>
                <a:spcPts val="7425"/>
              </a:lnSpc>
              <a:buFont typeface="Arial"/>
              <a:buChar char="•"/>
            </a:pPr>
            <a:r>
              <a:rPr lang="en-US" sz="4500">
                <a:solidFill>
                  <a:srgbClr val="063050"/>
                </a:solidFill>
                <a:latin typeface="Times New Roman"/>
                <a:ea typeface="Times New Roman"/>
                <a:cs typeface="Times New Roman"/>
                <a:sym typeface="Times New Roman"/>
              </a:rPr>
              <a:t>Xây dựng lớp DonHang chứa thông tin và tự động tính thành tiền sau chiết khấu.</a:t>
            </a:r>
          </a:p>
          <a:p>
            <a:pPr algn="l" marL="971550" indent="-485775" lvl="1">
              <a:lnSpc>
                <a:spcPts val="7425"/>
              </a:lnSpc>
              <a:buFont typeface="Arial"/>
              <a:buChar char="•"/>
            </a:pPr>
            <a:r>
              <a:rPr lang="en-US" sz="4500">
                <a:solidFill>
                  <a:srgbClr val="063050"/>
                </a:solidFill>
                <a:latin typeface="Times New Roman"/>
                <a:ea typeface="Times New Roman"/>
                <a:cs typeface="Times New Roman"/>
                <a:sym typeface="Times New Roman"/>
              </a:rPr>
              <a:t>Quản lý danh sách đơn hàng bằng mảng đối tượng.</a:t>
            </a:r>
          </a:p>
          <a:p>
            <a:pPr algn="l" marL="971550" indent="-485775" lvl="1">
              <a:lnSpc>
                <a:spcPts val="7425"/>
              </a:lnSpc>
              <a:buFont typeface="Arial"/>
              <a:buChar char="•"/>
            </a:pPr>
            <a:r>
              <a:rPr lang="en-US" sz="4500">
                <a:solidFill>
                  <a:srgbClr val="063050"/>
                </a:solidFill>
                <a:latin typeface="Times New Roman"/>
                <a:ea typeface="Times New Roman"/>
                <a:cs typeface="Times New Roman"/>
                <a:sym typeface="Times New Roman"/>
              </a:rPr>
              <a:t>Thực hiện đầy đủ các thao tác: Nhập, xuất, sắp xếp, tìm kiếm, thêm, xóa.</a:t>
            </a:r>
          </a:p>
          <a:p>
            <a:pPr algn="l">
              <a:lnSpc>
                <a:spcPts val="6299"/>
              </a:lnSpc>
            </a:pPr>
          </a:p>
          <a:p>
            <a:pPr algn="l">
              <a:lnSpc>
                <a:spcPts val="6999"/>
              </a:lnSpc>
            </a:pPr>
          </a:p>
          <a:p>
            <a:pPr algn="l">
              <a:lnSpc>
                <a:spcPts val="4411"/>
              </a:lnSpc>
            </a:pPr>
          </a:p>
        </p:txBody>
      </p:sp>
      <p:sp>
        <p:nvSpPr>
          <p:cNvPr name="Freeform 6" id="6"/>
          <p:cNvSpPr/>
          <p:nvPr/>
        </p:nvSpPr>
        <p:spPr>
          <a:xfrm flipH="false" flipV="false" rot="0">
            <a:off x="-1845989" y="529016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5">
              <a:alphaModFix amt="71000"/>
            </a:blip>
            <a:stretch>
              <a:fillRect l="0" t="0" r="0" b="0"/>
            </a:stretch>
          </a:blipFill>
        </p:spPr>
      </p:sp>
      <p:grpSp>
        <p:nvGrpSpPr>
          <p:cNvPr name="Group 7" id="7"/>
          <p:cNvGrpSpPr/>
          <p:nvPr/>
        </p:nvGrpSpPr>
        <p:grpSpPr>
          <a:xfrm rot="0">
            <a:off x="-3023029" y="-350159"/>
            <a:ext cx="21311029" cy="1677245"/>
            <a:chOff x="0" y="0"/>
            <a:chExt cx="5612781" cy="441743"/>
          </a:xfrm>
        </p:grpSpPr>
        <p:sp>
          <p:nvSpPr>
            <p:cNvPr name="Freeform 8" id="8"/>
            <p:cNvSpPr/>
            <p:nvPr/>
          </p:nvSpPr>
          <p:spPr>
            <a:xfrm flipH="false" flipV="false" rot="0">
              <a:off x="0" y="0"/>
              <a:ext cx="5612781" cy="441743"/>
            </a:xfrm>
            <a:custGeom>
              <a:avLst/>
              <a:gdLst/>
              <a:ahLst/>
              <a:cxnLst/>
              <a:rect r="r" b="b" t="t" l="l"/>
              <a:pathLst>
                <a:path h="441743" w="5612781">
                  <a:moveTo>
                    <a:pt x="0" y="0"/>
                  </a:moveTo>
                  <a:lnTo>
                    <a:pt x="5612781" y="0"/>
                  </a:lnTo>
                  <a:lnTo>
                    <a:pt x="5612781" y="441743"/>
                  </a:lnTo>
                  <a:lnTo>
                    <a:pt x="0" y="441743"/>
                  </a:lnTo>
                  <a:close/>
                </a:path>
              </a:pathLst>
            </a:custGeom>
            <a:solidFill>
              <a:srgbClr val="2B59C3">
                <a:alpha val="71765"/>
              </a:srgbClr>
            </a:solidFill>
          </p:spPr>
        </p:sp>
        <p:sp>
          <p:nvSpPr>
            <p:cNvPr name="TextBox 9" id="9"/>
            <p:cNvSpPr txBox="true"/>
            <p:nvPr/>
          </p:nvSpPr>
          <p:spPr>
            <a:xfrm>
              <a:off x="0" y="19050"/>
              <a:ext cx="5612781" cy="422693"/>
            </a:xfrm>
            <a:prstGeom prst="rect">
              <a:avLst/>
            </a:prstGeom>
          </p:spPr>
          <p:txBody>
            <a:bodyPr anchor="ctr" rtlCol="false" tIns="50800" lIns="50800" bIns="50800" rIns="50800"/>
            <a:lstStyle/>
            <a:p>
              <a:pPr algn="ctr">
                <a:lnSpc>
                  <a:spcPts val="2661"/>
                </a:lnSpc>
              </a:pPr>
            </a:p>
          </p:txBody>
        </p:sp>
      </p:grpSp>
      <p:sp>
        <p:nvSpPr>
          <p:cNvPr name="Freeform 10" id="10"/>
          <p:cNvSpPr/>
          <p:nvPr/>
        </p:nvSpPr>
        <p:spPr>
          <a:xfrm flipH="false" flipV="false" rot="0">
            <a:off x="13929152" y="6172200"/>
            <a:ext cx="4377447" cy="4114800"/>
          </a:xfrm>
          <a:custGeom>
            <a:avLst/>
            <a:gdLst/>
            <a:ahLst/>
            <a:cxnLst/>
            <a:rect r="r" b="b" t="t" l="l"/>
            <a:pathLst>
              <a:path h="4114800" w="4377447">
                <a:moveTo>
                  <a:pt x="0" y="0"/>
                </a:moveTo>
                <a:lnTo>
                  <a:pt x="4377447" y="0"/>
                </a:lnTo>
                <a:lnTo>
                  <a:pt x="4377447" y="4114800"/>
                </a:lnTo>
                <a:lnTo>
                  <a:pt x="0" y="4114800"/>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237633" y="322693"/>
            <a:ext cx="16883926" cy="855345"/>
          </a:xfrm>
          <a:prstGeom prst="rect">
            <a:avLst/>
          </a:prstGeom>
        </p:spPr>
        <p:txBody>
          <a:bodyPr anchor="t" rtlCol="false" tIns="0" lIns="0" bIns="0" rIns="0">
            <a:spAutoFit/>
          </a:bodyPr>
          <a:lstStyle/>
          <a:p>
            <a:pPr algn="l">
              <a:lnSpc>
                <a:spcPts val="6240"/>
              </a:lnSpc>
              <a:spcBef>
                <a:spcPct val="0"/>
              </a:spcBef>
            </a:pPr>
            <a:r>
              <a:rPr lang="en-US" b="true" sz="6000">
                <a:solidFill>
                  <a:srgbClr val="063050"/>
                </a:solidFill>
                <a:latin typeface="Times New Roman Bold"/>
                <a:ea typeface="Times New Roman Bold"/>
                <a:cs typeface="Times New Roman Bold"/>
                <a:sym typeface="Times New Roman Bold"/>
              </a:rPr>
              <a:t>1.TỔNG QUAN VỀ ĐỀ TÀI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33532" y="265543"/>
            <a:ext cx="527662" cy="527662"/>
          </a:xfrm>
          <a:custGeom>
            <a:avLst/>
            <a:gdLst/>
            <a:ahLst/>
            <a:cxnLst/>
            <a:rect r="r" b="b" t="t" l="l"/>
            <a:pathLst>
              <a:path h="527662" w="527662">
                <a:moveTo>
                  <a:pt x="0" y="0"/>
                </a:moveTo>
                <a:lnTo>
                  <a:pt x="527661" y="0"/>
                </a:lnTo>
                <a:lnTo>
                  <a:pt x="527661" y="527662"/>
                </a:lnTo>
                <a:lnTo>
                  <a:pt x="0" y="527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845531" y="163854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5">
              <a:alphaModFix amt="71000"/>
            </a:blip>
            <a:stretch>
              <a:fillRect l="0" t="0" r="0" b="0"/>
            </a:stretch>
          </a:blipFill>
        </p:spPr>
      </p:sp>
      <p:sp>
        <p:nvSpPr>
          <p:cNvPr name="TextBox 5" id="5"/>
          <p:cNvSpPr txBox="true"/>
          <p:nvPr/>
        </p:nvSpPr>
        <p:spPr>
          <a:xfrm rot="0">
            <a:off x="1077752" y="1552820"/>
            <a:ext cx="13777059" cy="8597237"/>
          </a:xfrm>
          <a:prstGeom prst="rect">
            <a:avLst/>
          </a:prstGeom>
        </p:spPr>
        <p:txBody>
          <a:bodyPr anchor="t" rtlCol="false" tIns="0" lIns="0" bIns="0" rIns="0">
            <a:spAutoFit/>
          </a:bodyPr>
          <a:lstStyle/>
          <a:p>
            <a:pPr algn="l">
              <a:lnSpc>
                <a:spcPts val="4411"/>
              </a:lnSpc>
            </a:pPr>
          </a:p>
          <a:p>
            <a:pPr algn="l">
              <a:lnSpc>
                <a:spcPts val="8249"/>
              </a:lnSpc>
            </a:pPr>
            <a:r>
              <a:rPr lang="en-US" sz="4999">
                <a:solidFill>
                  <a:srgbClr val="063050"/>
                </a:solidFill>
                <a:latin typeface="Times New Roman"/>
                <a:ea typeface="Times New Roman"/>
                <a:cs typeface="Times New Roman"/>
                <a:sym typeface="Times New Roman"/>
              </a:rPr>
              <a:t>1.3 Chức năng chính</a:t>
            </a:r>
          </a:p>
          <a:p>
            <a:pPr algn="l" marL="971550" indent="-485775" lvl="1">
              <a:lnSpc>
                <a:spcPts val="7559"/>
              </a:lnSpc>
              <a:buFont typeface="Arial"/>
              <a:buChar char="•"/>
            </a:pPr>
            <a:r>
              <a:rPr lang="en-US" sz="4500">
                <a:solidFill>
                  <a:srgbClr val="063050"/>
                </a:solidFill>
                <a:latin typeface="Times New Roman"/>
                <a:ea typeface="Times New Roman"/>
                <a:cs typeface="Times New Roman"/>
                <a:sym typeface="Times New Roman"/>
              </a:rPr>
              <a:t>Nhập / In: Nhập danh sách từ bàn phím và in thông tin đơn hàng ra màn hình.</a:t>
            </a:r>
          </a:p>
          <a:p>
            <a:pPr algn="l" marL="971550" indent="-485775" lvl="1">
              <a:lnSpc>
                <a:spcPts val="7559"/>
              </a:lnSpc>
              <a:buFont typeface="Arial"/>
              <a:buChar char="•"/>
            </a:pPr>
            <a:r>
              <a:rPr lang="en-US" sz="4500">
                <a:solidFill>
                  <a:srgbClr val="063050"/>
                </a:solidFill>
                <a:latin typeface="Times New Roman"/>
                <a:ea typeface="Times New Roman"/>
                <a:cs typeface="Times New Roman"/>
                <a:sym typeface="Times New Roman"/>
              </a:rPr>
              <a:t>Sắp xếp: Theo thành tiền giảm dần.</a:t>
            </a:r>
          </a:p>
          <a:p>
            <a:pPr algn="l" marL="971550" indent="-485775" lvl="1">
              <a:lnSpc>
                <a:spcPts val="7559"/>
              </a:lnSpc>
              <a:buFont typeface="Arial"/>
              <a:buChar char="•"/>
            </a:pPr>
            <a:r>
              <a:rPr lang="en-US" sz="4500">
                <a:solidFill>
                  <a:srgbClr val="063050"/>
                </a:solidFill>
                <a:latin typeface="Times New Roman"/>
                <a:ea typeface="Times New Roman"/>
                <a:cs typeface="Times New Roman"/>
                <a:sym typeface="Times New Roman"/>
              </a:rPr>
              <a:t>Tìm kiếm: Theo mã đơn hàng.</a:t>
            </a:r>
          </a:p>
          <a:p>
            <a:pPr algn="l" marL="971550" indent="-485775" lvl="1">
              <a:lnSpc>
                <a:spcPts val="7559"/>
              </a:lnSpc>
              <a:buFont typeface="Arial"/>
              <a:buChar char="•"/>
            </a:pPr>
            <a:r>
              <a:rPr lang="en-US" sz="4500">
                <a:solidFill>
                  <a:srgbClr val="063050"/>
                </a:solidFill>
                <a:latin typeface="Times New Roman"/>
                <a:ea typeface="Times New Roman"/>
                <a:cs typeface="Times New Roman"/>
                <a:sym typeface="Times New Roman"/>
              </a:rPr>
              <a:t>Cập nhật: Bổ sung hoặc xóa đơn hàng tại vị trí chỉ định.</a:t>
            </a:r>
          </a:p>
          <a:p>
            <a:pPr algn="l">
              <a:lnSpc>
                <a:spcPts val="6299"/>
              </a:lnSpc>
            </a:pPr>
          </a:p>
          <a:p>
            <a:pPr algn="l">
              <a:lnSpc>
                <a:spcPts val="6999"/>
              </a:lnSpc>
            </a:pPr>
          </a:p>
          <a:p>
            <a:pPr algn="l">
              <a:lnSpc>
                <a:spcPts val="4411"/>
              </a:lnSpc>
            </a:pPr>
          </a:p>
        </p:txBody>
      </p:sp>
      <p:sp>
        <p:nvSpPr>
          <p:cNvPr name="Freeform 6" id="6"/>
          <p:cNvSpPr/>
          <p:nvPr/>
        </p:nvSpPr>
        <p:spPr>
          <a:xfrm flipH="false" flipV="false" rot="0">
            <a:off x="-1845989" y="529016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5">
              <a:alphaModFix amt="71000"/>
            </a:blip>
            <a:stretch>
              <a:fillRect l="0" t="0" r="0" b="0"/>
            </a:stretch>
          </a:blipFill>
        </p:spPr>
      </p:sp>
      <p:grpSp>
        <p:nvGrpSpPr>
          <p:cNvPr name="Group 7" id="7"/>
          <p:cNvGrpSpPr/>
          <p:nvPr/>
        </p:nvGrpSpPr>
        <p:grpSpPr>
          <a:xfrm rot="0">
            <a:off x="-3023029" y="-350159"/>
            <a:ext cx="21311029" cy="1707590"/>
            <a:chOff x="0" y="0"/>
            <a:chExt cx="5612781" cy="449736"/>
          </a:xfrm>
        </p:grpSpPr>
        <p:sp>
          <p:nvSpPr>
            <p:cNvPr name="Freeform 8" id="8"/>
            <p:cNvSpPr/>
            <p:nvPr/>
          </p:nvSpPr>
          <p:spPr>
            <a:xfrm flipH="false" flipV="false" rot="0">
              <a:off x="0" y="0"/>
              <a:ext cx="5612781" cy="449736"/>
            </a:xfrm>
            <a:custGeom>
              <a:avLst/>
              <a:gdLst/>
              <a:ahLst/>
              <a:cxnLst/>
              <a:rect r="r" b="b" t="t" l="l"/>
              <a:pathLst>
                <a:path h="449736" w="5612781">
                  <a:moveTo>
                    <a:pt x="0" y="0"/>
                  </a:moveTo>
                  <a:lnTo>
                    <a:pt x="5612781" y="0"/>
                  </a:lnTo>
                  <a:lnTo>
                    <a:pt x="5612781" y="449736"/>
                  </a:lnTo>
                  <a:lnTo>
                    <a:pt x="0" y="449736"/>
                  </a:lnTo>
                  <a:close/>
                </a:path>
              </a:pathLst>
            </a:custGeom>
            <a:solidFill>
              <a:srgbClr val="2B59C3">
                <a:alpha val="71765"/>
              </a:srgbClr>
            </a:solidFill>
          </p:spPr>
        </p:sp>
        <p:sp>
          <p:nvSpPr>
            <p:cNvPr name="TextBox 9" id="9"/>
            <p:cNvSpPr txBox="true"/>
            <p:nvPr/>
          </p:nvSpPr>
          <p:spPr>
            <a:xfrm>
              <a:off x="0" y="19050"/>
              <a:ext cx="5612781" cy="430686"/>
            </a:xfrm>
            <a:prstGeom prst="rect">
              <a:avLst/>
            </a:prstGeom>
          </p:spPr>
          <p:txBody>
            <a:bodyPr anchor="ctr" rtlCol="false" tIns="50800" lIns="50800" bIns="50800" rIns="50800"/>
            <a:lstStyle/>
            <a:p>
              <a:pPr algn="ctr">
                <a:lnSpc>
                  <a:spcPts val="2661"/>
                </a:lnSpc>
              </a:pPr>
            </a:p>
          </p:txBody>
        </p:sp>
      </p:grpSp>
      <p:sp>
        <p:nvSpPr>
          <p:cNvPr name="TextBox 10" id="10"/>
          <p:cNvSpPr txBox="true"/>
          <p:nvPr/>
        </p:nvSpPr>
        <p:spPr>
          <a:xfrm rot="0">
            <a:off x="1237633" y="322693"/>
            <a:ext cx="16847894" cy="855345"/>
          </a:xfrm>
          <a:prstGeom prst="rect">
            <a:avLst/>
          </a:prstGeom>
        </p:spPr>
        <p:txBody>
          <a:bodyPr anchor="t" rtlCol="false" tIns="0" lIns="0" bIns="0" rIns="0">
            <a:spAutoFit/>
          </a:bodyPr>
          <a:lstStyle/>
          <a:p>
            <a:pPr algn="l">
              <a:lnSpc>
                <a:spcPts val="6240"/>
              </a:lnSpc>
              <a:spcBef>
                <a:spcPct val="0"/>
              </a:spcBef>
            </a:pPr>
            <a:r>
              <a:rPr lang="en-US" b="true" sz="6000">
                <a:solidFill>
                  <a:srgbClr val="063050"/>
                </a:solidFill>
                <a:latin typeface="Times New Roman Bold"/>
                <a:ea typeface="Times New Roman Bold"/>
                <a:cs typeface="Times New Roman Bold"/>
                <a:sym typeface="Times New Roman Bold"/>
              </a:rPr>
              <a:t>1.TỔNG QUAN VỀ ĐỀ TÀI</a:t>
            </a:r>
          </a:p>
        </p:txBody>
      </p:sp>
      <p:sp>
        <p:nvSpPr>
          <p:cNvPr name="Freeform 11" id="11"/>
          <p:cNvSpPr/>
          <p:nvPr/>
        </p:nvSpPr>
        <p:spPr>
          <a:xfrm flipH="false" flipV="false" rot="0">
            <a:off x="15742443" y="7452878"/>
            <a:ext cx="2545557" cy="2834122"/>
          </a:xfrm>
          <a:custGeom>
            <a:avLst/>
            <a:gdLst/>
            <a:ahLst/>
            <a:cxnLst/>
            <a:rect r="r" b="b" t="t" l="l"/>
            <a:pathLst>
              <a:path h="2834122" w="2545557">
                <a:moveTo>
                  <a:pt x="0" y="0"/>
                </a:moveTo>
                <a:lnTo>
                  <a:pt x="2545557" y="0"/>
                </a:lnTo>
                <a:lnTo>
                  <a:pt x="2545557" y="2834122"/>
                </a:lnTo>
                <a:lnTo>
                  <a:pt x="0" y="28341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371273" y="0"/>
            <a:ext cx="21311029" cy="1464829"/>
            <a:chOff x="0" y="0"/>
            <a:chExt cx="5612781" cy="385799"/>
          </a:xfrm>
        </p:grpSpPr>
        <p:sp>
          <p:nvSpPr>
            <p:cNvPr name="Freeform 4" id="4"/>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5" id="5"/>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2974827" y="-258818"/>
            <a:ext cx="6393051" cy="4114800"/>
          </a:xfrm>
          <a:custGeom>
            <a:avLst/>
            <a:gdLst/>
            <a:ahLst/>
            <a:cxnLst/>
            <a:rect r="r" b="b" t="t" l="l"/>
            <a:pathLst>
              <a:path h="4114800" w="6393051">
                <a:moveTo>
                  <a:pt x="0" y="0"/>
                </a:moveTo>
                <a:lnTo>
                  <a:pt x="6393051" y="0"/>
                </a:lnTo>
                <a:lnTo>
                  <a:pt x="6393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5483" y="7841239"/>
            <a:ext cx="2545557" cy="2834122"/>
          </a:xfrm>
          <a:custGeom>
            <a:avLst/>
            <a:gdLst/>
            <a:ahLst/>
            <a:cxnLst/>
            <a:rect r="r" b="b" t="t" l="l"/>
            <a:pathLst>
              <a:path h="2834122" w="2545557">
                <a:moveTo>
                  <a:pt x="0" y="0"/>
                </a:moveTo>
                <a:lnTo>
                  <a:pt x="2545556" y="0"/>
                </a:lnTo>
                <a:lnTo>
                  <a:pt x="2545556" y="2834122"/>
                </a:lnTo>
                <a:lnTo>
                  <a:pt x="0" y="28341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294899"/>
            <a:ext cx="16970596"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9" id="9"/>
          <p:cNvSpPr txBox="true"/>
          <p:nvPr/>
        </p:nvSpPr>
        <p:spPr>
          <a:xfrm rot="0">
            <a:off x="387295" y="1646182"/>
            <a:ext cx="16132538" cy="7442546"/>
          </a:xfrm>
          <a:prstGeom prst="rect">
            <a:avLst/>
          </a:prstGeom>
        </p:spPr>
        <p:txBody>
          <a:bodyPr anchor="t" rtlCol="false" tIns="0" lIns="0" bIns="0" rIns="0">
            <a:spAutoFit/>
          </a:bodyPr>
          <a:lstStyle/>
          <a:p>
            <a:pPr algn="l">
              <a:lnSpc>
                <a:spcPts val="7289"/>
              </a:lnSpc>
            </a:pPr>
            <a:r>
              <a:rPr lang="en-US" sz="4958">
                <a:solidFill>
                  <a:srgbClr val="000000"/>
                </a:solidFill>
                <a:latin typeface="Times New Roman"/>
                <a:ea typeface="Times New Roman"/>
                <a:cs typeface="Times New Roman"/>
                <a:sym typeface="Times New Roman"/>
              </a:rPr>
              <a:t>2.1 Tổng quan về lập trình hướng đối tượng</a:t>
            </a:r>
          </a:p>
          <a:p>
            <a:pPr algn="l" marL="964806" indent="-482403" lvl="1">
              <a:lnSpc>
                <a:spcPts val="6569"/>
              </a:lnSpc>
              <a:buFont typeface="Arial"/>
              <a:buChar char="•"/>
            </a:pPr>
            <a:r>
              <a:rPr lang="en-US" sz="4468">
                <a:solidFill>
                  <a:srgbClr val="000000"/>
                </a:solidFill>
                <a:latin typeface="Times New Roman"/>
                <a:ea typeface="Times New Roman"/>
                <a:cs typeface="Times New Roman"/>
                <a:sym typeface="Times New Roman"/>
              </a:rPr>
              <a:t>Lập trình hướng đối tượng: Là phương pháp lập trình tổ chức xoay quanh các đối tượng, mỗi đối tượng bao gồm dữ liệu và phương thức. Cách tiếp cận này giúp mô hình hóa các thực thể thực tế một cách trực quan.</a:t>
            </a:r>
          </a:p>
          <a:p>
            <a:pPr algn="l" marL="964806" indent="-482403" lvl="1">
              <a:lnSpc>
                <a:spcPts val="6569"/>
              </a:lnSpc>
              <a:buFont typeface="Arial"/>
              <a:buChar char="•"/>
            </a:pPr>
            <a:r>
              <a:rPr lang="en-US" sz="4468">
                <a:solidFill>
                  <a:srgbClr val="000000"/>
                </a:solidFill>
                <a:latin typeface="Times New Roman"/>
                <a:ea typeface="Times New Roman"/>
                <a:cs typeface="Times New Roman"/>
                <a:sym typeface="Times New Roman"/>
              </a:rPr>
              <a:t>Áp dụng trong đề tài: "Đơn hàng" được mô hình hóa thành lớp DonHang. Chương trình tạo nhiều đối tượng DonHang và quản lý chúng dưới dạng một mảng danh sách.</a:t>
            </a:r>
          </a:p>
          <a:p>
            <a:pPr algn="ctr">
              <a:lnSpc>
                <a:spcPts val="4647"/>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4057865" y="1680940"/>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2641513" y="-167365"/>
            <a:ext cx="21311029" cy="1464829"/>
            <a:chOff x="0" y="0"/>
            <a:chExt cx="5612781" cy="385799"/>
          </a:xfrm>
        </p:grpSpPr>
        <p:sp>
          <p:nvSpPr>
            <p:cNvPr name="Freeform 6" id="6"/>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7" id="7"/>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TextBox 8" id="8"/>
          <p:cNvSpPr txBox="true"/>
          <p:nvPr/>
        </p:nvSpPr>
        <p:spPr>
          <a:xfrm rot="0">
            <a:off x="916883" y="174940"/>
            <a:ext cx="17185730"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9" id="9"/>
          <p:cNvSpPr txBox="true"/>
          <p:nvPr/>
        </p:nvSpPr>
        <p:spPr>
          <a:xfrm rot="0">
            <a:off x="211565" y="1719040"/>
            <a:ext cx="8536694" cy="8354444"/>
          </a:xfrm>
          <a:prstGeom prst="rect">
            <a:avLst/>
          </a:prstGeom>
        </p:spPr>
        <p:txBody>
          <a:bodyPr anchor="t" rtlCol="false" tIns="0" lIns="0" bIns="0" rIns="0">
            <a:spAutoFit/>
          </a:bodyPr>
          <a:lstStyle/>
          <a:p>
            <a:pPr algn="l">
              <a:lnSpc>
                <a:spcPts val="5111"/>
              </a:lnSpc>
            </a:pPr>
            <a:r>
              <a:rPr lang="en-US" sz="4914">
                <a:solidFill>
                  <a:srgbClr val="000000"/>
                </a:solidFill>
                <a:latin typeface="Times New Roman"/>
                <a:ea typeface="Times New Roman"/>
                <a:cs typeface="Times New Roman"/>
                <a:sym typeface="Times New Roman"/>
              </a:rPr>
              <a:t>2.2 Lớp và đối tượng</a:t>
            </a:r>
          </a:p>
          <a:p>
            <a:pPr algn="l">
              <a:lnSpc>
                <a:spcPts val="5111"/>
              </a:lnSpc>
            </a:pPr>
          </a:p>
          <a:p>
            <a:pPr algn="l">
              <a:lnSpc>
                <a:spcPts val="5436"/>
              </a:lnSpc>
            </a:pPr>
            <a:r>
              <a:rPr lang="en-US" sz="4214">
                <a:solidFill>
                  <a:srgbClr val="000000"/>
                </a:solidFill>
                <a:latin typeface="Times New Roman"/>
                <a:ea typeface="Times New Roman"/>
                <a:cs typeface="Times New Roman"/>
                <a:sym typeface="Times New Roman"/>
              </a:rPr>
              <a:t> </a:t>
            </a:r>
            <a:r>
              <a:rPr lang="en-US" sz="4214" b="true">
                <a:solidFill>
                  <a:srgbClr val="000000"/>
                </a:solidFill>
                <a:latin typeface="Times New Roman Bold"/>
                <a:ea typeface="Times New Roman Bold"/>
                <a:cs typeface="Times New Roman Bold"/>
                <a:sym typeface="Times New Roman Bold"/>
              </a:rPr>
              <a:t>Class - Lớp:</a:t>
            </a:r>
          </a:p>
          <a:p>
            <a:pPr algn="l" marL="890217" indent="-445108" lvl="1">
              <a:lnSpc>
                <a:spcPts val="5319"/>
              </a:lnSpc>
              <a:buFont typeface="Arial"/>
              <a:buChar char="•"/>
            </a:pPr>
            <a:r>
              <a:rPr lang="en-US" sz="4123">
                <a:solidFill>
                  <a:srgbClr val="000000"/>
                </a:solidFill>
                <a:latin typeface="Times New Roman"/>
                <a:ea typeface="Times New Roman"/>
                <a:cs typeface="Times New Roman"/>
                <a:sym typeface="Times New Roman"/>
              </a:rPr>
              <a:t>Khái niệm: Là mô hình gom nhóm dữ liệu và các hàm xử lý liên quan.</a:t>
            </a:r>
          </a:p>
          <a:p>
            <a:pPr algn="l">
              <a:lnSpc>
                <a:spcPts val="5319"/>
              </a:lnSpc>
            </a:pPr>
            <a:r>
              <a:rPr lang="en-US" sz="4123">
                <a:solidFill>
                  <a:srgbClr val="000000"/>
                </a:solidFill>
                <a:latin typeface="Times New Roman"/>
                <a:ea typeface="Times New Roman"/>
                <a:cs typeface="Times New Roman"/>
                <a:sym typeface="Times New Roman"/>
              </a:rPr>
              <a:t>Thành phần chính:</a:t>
            </a:r>
          </a:p>
          <a:p>
            <a:pPr algn="l" marL="890217" indent="-445108" lvl="1">
              <a:lnSpc>
                <a:spcPts val="5319"/>
              </a:lnSpc>
              <a:buFont typeface="Arial"/>
              <a:buChar char="•"/>
            </a:pPr>
            <a:r>
              <a:rPr lang="en-US" sz="4123">
                <a:solidFill>
                  <a:srgbClr val="000000"/>
                </a:solidFill>
                <a:latin typeface="Times New Roman"/>
                <a:ea typeface="Times New Roman"/>
                <a:cs typeface="Times New Roman"/>
                <a:sym typeface="Times New Roman"/>
              </a:rPr>
              <a:t>Thuộc tính: Lưu đặc điểm/dữ liệu của đối tượng.</a:t>
            </a:r>
          </a:p>
          <a:p>
            <a:pPr algn="l" marL="890217" indent="-445108" lvl="1">
              <a:lnSpc>
                <a:spcPts val="5319"/>
              </a:lnSpc>
              <a:buFont typeface="Arial"/>
              <a:buChar char="•"/>
            </a:pPr>
            <a:r>
              <a:rPr lang="en-US" sz="4123">
                <a:solidFill>
                  <a:srgbClr val="000000"/>
                </a:solidFill>
                <a:latin typeface="Times New Roman"/>
                <a:ea typeface="Times New Roman"/>
                <a:cs typeface="Times New Roman"/>
                <a:sym typeface="Times New Roman"/>
              </a:rPr>
              <a:t>Phương thức: Các hàm thực hiện hành động trên dữ liệu đó.</a:t>
            </a:r>
          </a:p>
          <a:p>
            <a:pPr algn="l">
              <a:lnSpc>
                <a:spcPts val="5577"/>
              </a:lnSpc>
            </a:pPr>
          </a:p>
          <a:p>
            <a:pPr algn="ctr">
              <a:lnSpc>
                <a:spcPts val="3768"/>
              </a:lnSpc>
            </a:pPr>
          </a:p>
          <a:p>
            <a:pPr algn="ctr">
              <a:lnSpc>
                <a:spcPts val="3768"/>
              </a:lnSpc>
              <a:spcBef>
                <a:spcPct val="0"/>
              </a:spcBef>
            </a:pPr>
          </a:p>
        </p:txBody>
      </p:sp>
      <p:sp>
        <p:nvSpPr>
          <p:cNvPr name="TextBox 10" id="10"/>
          <p:cNvSpPr txBox="true"/>
          <p:nvPr/>
        </p:nvSpPr>
        <p:spPr>
          <a:xfrm rot="0">
            <a:off x="9112650" y="2960217"/>
            <a:ext cx="9175350" cy="6003988"/>
          </a:xfrm>
          <a:prstGeom prst="rect">
            <a:avLst/>
          </a:prstGeom>
        </p:spPr>
        <p:txBody>
          <a:bodyPr anchor="t" rtlCol="false" tIns="0" lIns="0" bIns="0" rIns="0">
            <a:spAutoFit/>
          </a:bodyPr>
          <a:lstStyle/>
          <a:p>
            <a:pPr algn="l">
              <a:lnSpc>
                <a:spcPts val="5289"/>
              </a:lnSpc>
            </a:pPr>
            <a:r>
              <a:rPr lang="en-US" sz="4100" b="true">
                <a:solidFill>
                  <a:srgbClr val="000000"/>
                </a:solidFill>
                <a:latin typeface="Times New Roman Bold"/>
                <a:ea typeface="Times New Roman Bold"/>
                <a:cs typeface="Times New Roman Bold"/>
                <a:sym typeface="Times New Roman Bold"/>
              </a:rPr>
              <a:t>Object - Đ</a:t>
            </a:r>
            <a:r>
              <a:rPr lang="en-US" sz="4100" b="true">
                <a:solidFill>
                  <a:srgbClr val="000000"/>
                </a:solidFill>
                <a:latin typeface="Times New Roman Bold"/>
                <a:ea typeface="Times New Roman Bold"/>
                <a:cs typeface="Times New Roman Bold"/>
                <a:sym typeface="Times New Roman Bold"/>
              </a:rPr>
              <a:t>ối tượng:</a:t>
            </a:r>
          </a:p>
          <a:p>
            <a:pPr algn="l" marL="885192" indent="-442596" lvl="1">
              <a:lnSpc>
                <a:spcPts val="5289"/>
              </a:lnSpc>
              <a:buFont typeface="Arial"/>
              <a:buChar char="•"/>
            </a:pPr>
            <a:r>
              <a:rPr lang="en-US" sz="4100">
                <a:solidFill>
                  <a:srgbClr val="000000"/>
                </a:solidFill>
                <a:latin typeface="Times New Roman"/>
                <a:ea typeface="Times New Roman"/>
                <a:cs typeface="Times New Roman"/>
                <a:sym typeface="Times New Roman"/>
              </a:rPr>
              <a:t>Khái niệm: Là một thực thể cụ thể được khởi tạo từ lớp. Ví dụ: Lớp DonHang tạo ra các đối tượng cụ thể DH01, DH02.</a:t>
            </a:r>
          </a:p>
          <a:p>
            <a:pPr algn="l" marL="885192" indent="-442596" lvl="1">
              <a:lnSpc>
                <a:spcPts val="5289"/>
              </a:lnSpc>
              <a:buFont typeface="Arial"/>
              <a:buChar char="•"/>
            </a:pPr>
            <a:r>
              <a:rPr lang="en-US" sz="4100">
                <a:solidFill>
                  <a:srgbClr val="000000"/>
                </a:solidFill>
                <a:latin typeface="Times New Roman"/>
                <a:ea typeface="Times New Roman"/>
                <a:cs typeface="Times New Roman"/>
                <a:sym typeface="Times New Roman"/>
              </a:rPr>
              <a:t>Áp dụng: Dùng mảng a[200] để lưu danh sách các đối tượng, trong đó mỗi phần tử a[i] đại diện cho một đơn hàng.</a:t>
            </a:r>
          </a:p>
          <a:p>
            <a:pPr algn="ctr">
              <a:lnSpc>
                <a:spcPts val="468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4057865" y="1680940"/>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2641513" y="-167365"/>
            <a:ext cx="21311029" cy="1464829"/>
            <a:chOff x="0" y="0"/>
            <a:chExt cx="5612781" cy="385799"/>
          </a:xfrm>
        </p:grpSpPr>
        <p:sp>
          <p:nvSpPr>
            <p:cNvPr name="Freeform 6" id="6"/>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7" id="7"/>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6506618" y="1297464"/>
            <a:ext cx="11113703" cy="8989536"/>
          </a:xfrm>
          <a:custGeom>
            <a:avLst/>
            <a:gdLst/>
            <a:ahLst/>
            <a:cxnLst/>
            <a:rect r="r" b="b" t="t" l="l"/>
            <a:pathLst>
              <a:path h="8989536" w="11113703">
                <a:moveTo>
                  <a:pt x="0" y="0"/>
                </a:moveTo>
                <a:lnTo>
                  <a:pt x="11113703" y="0"/>
                </a:lnTo>
                <a:lnTo>
                  <a:pt x="11113703" y="8989536"/>
                </a:lnTo>
                <a:lnTo>
                  <a:pt x="0" y="8989536"/>
                </a:lnTo>
                <a:lnTo>
                  <a:pt x="0" y="0"/>
                </a:lnTo>
                <a:close/>
              </a:path>
            </a:pathLst>
          </a:custGeom>
          <a:blipFill>
            <a:blip r:embed="rId4"/>
            <a:stretch>
              <a:fillRect l="-2136" t="-2080" r="-2373" b="0"/>
            </a:stretch>
          </a:blipFill>
        </p:spPr>
      </p:sp>
      <p:sp>
        <p:nvSpPr>
          <p:cNvPr name="TextBox 9" id="9"/>
          <p:cNvSpPr txBox="true"/>
          <p:nvPr/>
        </p:nvSpPr>
        <p:spPr>
          <a:xfrm rot="0">
            <a:off x="916883" y="174940"/>
            <a:ext cx="17185730"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10" id="10"/>
          <p:cNvSpPr txBox="true"/>
          <p:nvPr/>
        </p:nvSpPr>
        <p:spPr>
          <a:xfrm rot="0">
            <a:off x="621552" y="1809374"/>
            <a:ext cx="5030462" cy="3651126"/>
          </a:xfrm>
          <a:prstGeom prst="rect">
            <a:avLst/>
          </a:prstGeom>
        </p:spPr>
        <p:txBody>
          <a:bodyPr anchor="t" rtlCol="false" tIns="0" lIns="0" bIns="0" rIns="0">
            <a:spAutoFit/>
          </a:bodyPr>
          <a:lstStyle/>
          <a:p>
            <a:pPr algn="l">
              <a:lnSpc>
                <a:spcPts val="5215"/>
              </a:lnSpc>
            </a:pPr>
            <a:r>
              <a:rPr lang="en-US" sz="5014">
                <a:solidFill>
                  <a:srgbClr val="000000"/>
                </a:solidFill>
                <a:latin typeface="Times New Roman"/>
                <a:ea typeface="Times New Roman"/>
                <a:cs typeface="Times New Roman"/>
                <a:sym typeface="Times New Roman"/>
              </a:rPr>
              <a:t>2.3 Các thuộc tính của lớp đơn hàng</a:t>
            </a:r>
          </a:p>
          <a:p>
            <a:pPr algn="l">
              <a:lnSpc>
                <a:spcPts val="5215"/>
              </a:lnSpc>
            </a:pPr>
          </a:p>
          <a:p>
            <a:pPr algn="l">
              <a:lnSpc>
                <a:spcPts val="5215"/>
              </a:lnSpc>
            </a:pPr>
          </a:p>
          <a:p>
            <a:pPr algn="ctr">
              <a:lnSpc>
                <a:spcPts val="3872"/>
              </a:lnSpc>
            </a:pPr>
          </a:p>
          <a:p>
            <a:pPr algn="ctr">
              <a:lnSpc>
                <a:spcPts val="387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4057865" y="1680940"/>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2641513" y="-167365"/>
            <a:ext cx="21311029" cy="1464829"/>
            <a:chOff x="0" y="0"/>
            <a:chExt cx="5612781" cy="385799"/>
          </a:xfrm>
        </p:grpSpPr>
        <p:sp>
          <p:nvSpPr>
            <p:cNvPr name="Freeform 6" id="6"/>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7" id="7"/>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TextBox 8" id="8"/>
          <p:cNvSpPr txBox="true"/>
          <p:nvPr/>
        </p:nvSpPr>
        <p:spPr>
          <a:xfrm rot="0">
            <a:off x="916883" y="174940"/>
            <a:ext cx="17005570"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9" id="9"/>
          <p:cNvSpPr txBox="true"/>
          <p:nvPr/>
        </p:nvSpPr>
        <p:spPr>
          <a:xfrm rot="0">
            <a:off x="515867" y="1598185"/>
            <a:ext cx="14346417" cy="8688815"/>
          </a:xfrm>
          <a:prstGeom prst="rect">
            <a:avLst/>
          </a:prstGeom>
        </p:spPr>
        <p:txBody>
          <a:bodyPr anchor="t" rtlCol="false" tIns="0" lIns="0" bIns="0" rIns="0">
            <a:spAutoFit/>
          </a:bodyPr>
          <a:lstStyle/>
          <a:p>
            <a:pPr algn="l">
              <a:lnSpc>
                <a:spcPts val="6623"/>
              </a:lnSpc>
            </a:pPr>
            <a:r>
              <a:rPr lang="en-US" sz="4799">
                <a:solidFill>
                  <a:srgbClr val="000000"/>
                </a:solidFill>
                <a:latin typeface="Times New Roman"/>
                <a:ea typeface="Times New Roman"/>
                <a:cs typeface="Times New Roman"/>
                <a:sym typeface="Times New Roman"/>
              </a:rPr>
              <a:t>2.4. Tính đóng gói</a:t>
            </a:r>
          </a:p>
          <a:p>
            <a:pPr algn="l" marL="971550" indent="-485775" lvl="1">
              <a:lnSpc>
                <a:spcPts val="6209"/>
              </a:lnSpc>
              <a:buFont typeface="Arial"/>
              <a:buChar char="•"/>
            </a:pPr>
            <a:r>
              <a:rPr lang="en-US" sz="4500">
                <a:solidFill>
                  <a:srgbClr val="000000"/>
                </a:solidFill>
                <a:latin typeface="Times New Roman"/>
                <a:ea typeface="Times New Roman"/>
                <a:cs typeface="Times New Roman"/>
                <a:sym typeface="Times New Roman"/>
              </a:rPr>
              <a:t>Cơ chế: Gom thuộc tính và phương thức vào cùng một lớp, giới hạn truy cập từ bên ngoài.</a:t>
            </a:r>
          </a:p>
          <a:p>
            <a:pPr algn="l" marL="971550" indent="-485775" lvl="1">
              <a:lnSpc>
                <a:spcPts val="6209"/>
              </a:lnSpc>
              <a:buFont typeface="Arial"/>
              <a:buChar char="•"/>
            </a:pPr>
            <a:r>
              <a:rPr lang="en-US" sz="4500">
                <a:solidFill>
                  <a:srgbClr val="000000"/>
                </a:solidFill>
                <a:latin typeface="Times New Roman"/>
                <a:ea typeface="Times New Roman"/>
                <a:cs typeface="Times New Roman"/>
                <a:sym typeface="Times New Roman"/>
              </a:rPr>
              <a:t>Áp dụng:</a:t>
            </a:r>
          </a:p>
          <a:p>
            <a:pPr algn="l" marL="1943100" indent="-647700" lvl="2">
              <a:lnSpc>
                <a:spcPts val="6209"/>
              </a:lnSpc>
              <a:buFont typeface="Arial"/>
              <a:buChar char="⚬"/>
            </a:pPr>
            <a:r>
              <a:rPr lang="en-US" sz="4500">
                <a:solidFill>
                  <a:srgbClr val="000000"/>
                </a:solidFill>
                <a:latin typeface="Times New Roman"/>
                <a:ea typeface="Times New Roman"/>
                <a:cs typeface="Times New Roman"/>
                <a:sym typeface="Times New Roman"/>
              </a:rPr>
              <a:t>Attribute (private): mdh, tkh, ndh, slsp, ttien, tlck, ttsck (ngăn truy cập trực tiếp).</a:t>
            </a:r>
          </a:p>
          <a:p>
            <a:pPr algn="l" marL="1943100" indent="-647700" lvl="2">
              <a:lnSpc>
                <a:spcPts val="6209"/>
              </a:lnSpc>
              <a:buFont typeface="Arial"/>
              <a:buChar char="⚬"/>
            </a:pPr>
            <a:r>
              <a:rPr lang="en-US" sz="4500">
                <a:solidFill>
                  <a:srgbClr val="000000"/>
                </a:solidFill>
                <a:latin typeface="Times New Roman"/>
                <a:ea typeface="Times New Roman"/>
                <a:cs typeface="Times New Roman"/>
                <a:sym typeface="Times New Roman"/>
              </a:rPr>
              <a:t>Method (public): nhap(), xuat(), sapxep(), timkiem(), bosung(), xoa() (cho phép gọi từ main()).</a:t>
            </a:r>
          </a:p>
          <a:p>
            <a:pPr algn="l">
              <a:lnSpc>
                <a:spcPts val="5215"/>
              </a:lnSpc>
            </a:pPr>
          </a:p>
          <a:p>
            <a:pPr algn="l">
              <a:lnSpc>
                <a:spcPts val="5215"/>
              </a:lnSpc>
            </a:pPr>
          </a:p>
          <a:p>
            <a:pPr algn="ctr">
              <a:lnSpc>
                <a:spcPts val="3872"/>
              </a:lnSpc>
            </a:pPr>
          </a:p>
          <a:p>
            <a:pPr algn="ctr">
              <a:lnSpc>
                <a:spcPts val="3872"/>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4057865" y="1680940"/>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2641513" y="-167365"/>
            <a:ext cx="21311029" cy="1464829"/>
            <a:chOff x="0" y="0"/>
            <a:chExt cx="5612781" cy="385799"/>
          </a:xfrm>
        </p:grpSpPr>
        <p:sp>
          <p:nvSpPr>
            <p:cNvPr name="Freeform 6" id="6"/>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7" id="7"/>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TextBox 8" id="8"/>
          <p:cNvSpPr txBox="true"/>
          <p:nvPr/>
        </p:nvSpPr>
        <p:spPr>
          <a:xfrm rot="0">
            <a:off x="916883" y="174940"/>
            <a:ext cx="17149698"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9" id="9"/>
          <p:cNvSpPr txBox="true"/>
          <p:nvPr/>
        </p:nvSpPr>
        <p:spPr>
          <a:xfrm rot="0">
            <a:off x="394487" y="2047003"/>
            <a:ext cx="14376762" cy="7211297"/>
          </a:xfrm>
          <a:prstGeom prst="rect">
            <a:avLst/>
          </a:prstGeom>
        </p:spPr>
        <p:txBody>
          <a:bodyPr anchor="t" rtlCol="false" tIns="0" lIns="0" bIns="0" rIns="0">
            <a:spAutoFit/>
          </a:bodyPr>
          <a:lstStyle/>
          <a:p>
            <a:pPr algn="l">
              <a:lnSpc>
                <a:spcPts val="4991"/>
              </a:lnSpc>
            </a:pPr>
            <a:r>
              <a:rPr lang="en-US" sz="4799">
                <a:solidFill>
                  <a:srgbClr val="000000"/>
                </a:solidFill>
                <a:latin typeface="Times New Roman"/>
                <a:ea typeface="Times New Roman"/>
                <a:cs typeface="Times New Roman"/>
                <a:sym typeface="Times New Roman"/>
              </a:rPr>
              <a:t>2.5 Nhập chuỗi và xử lý bộ đệm</a:t>
            </a:r>
          </a:p>
          <a:p>
            <a:pPr algn="l" marL="928371" indent="-464186" lvl="1">
              <a:lnSpc>
                <a:spcPts val="7224"/>
              </a:lnSpc>
              <a:buFont typeface="Arial"/>
              <a:buChar char="•"/>
            </a:pPr>
            <a:r>
              <a:rPr lang="en-US" sz="4300">
                <a:solidFill>
                  <a:srgbClr val="000000"/>
                </a:solidFill>
                <a:latin typeface="Times New Roman"/>
                <a:ea typeface="Times New Roman"/>
                <a:cs typeface="Times New Roman"/>
                <a:sym typeface="Times New Roman"/>
              </a:rPr>
              <a:t>getline(): Nhập chuỗi ký tự (mã, tên, ngày) có chứa khoảng trắng.</a:t>
            </a:r>
          </a:p>
          <a:p>
            <a:pPr algn="l" marL="928371" indent="-464186" lvl="1">
              <a:lnSpc>
                <a:spcPts val="7224"/>
              </a:lnSpc>
              <a:buFont typeface="Arial"/>
              <a:buChar char="•"/>
            </a:pPr>
            <a:r>
              <a:rPr lang="en-US" sz="4300">
                <a:solidFill>
                  <a:srgbClr val="000000"/>
                </a:solidFill>
                <a:latin typeface="Times New Roman"/>
                <a:ea typeface="Times New Roman"/>
                <a:cs typeface="Times New Roman"/>
                <a:sym typeface="Times New Roman"/>
              </a:rPr>
              <a:t>cin.ignore(): Xóa ký tự Enter thừa trong bộ đệm sau khi nhập số bằng cin &gt;&gt; để tránh trôi lệnh khi dùng getline() tiếp theo.</a:t>
            </a:r>
          </a:p>
          <a:p>
            <a:pPr algn="l">
              <a:lnSpc>
                <a:spcPts val="4991"/>
              </a:lnSpc>
            </a:pPr>
          </a:p>
          <a:p>
            <a:pPr algn="l">
              <a:lnSpc>
                <a:spcPts val="4991"/>
              </a:lnSpc>
            </a:pPr>
          </a:p>
          <a:p>
            <a:pPr algn="l">
              <a:lnSpc>
                <a:spcPts val="5215"/>
              </a:lnSpc>
            </a:pPr>
          </a:p>
          <a:p>
            <a:pPr algn="ctr">
              <a:lnSpc>
                <a:spcPts val="3872"/>
              </a:lnSpc>
            </a:pPr>
          </a:p>
          <a:p>
            <a:pPr algn="ctr">
              <a:lnSpc>
                <a:spcPts val="3872"/>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4057865" y="1680940"/>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2641513" y="-167365"/>
            <a:ext cx="21311029" cy="1464829"/>
            <a:chOff x="0" y="0"/>
            <a:chExt cx="5612781" cy="385799"/>
          </a:xfrm>
        </p:grpSpPr>
        <p:sp>
          <p:nvSpPr>
            <p:cNvPr name="Freeform 6" id="6"/>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7" id="7"/>
            <p:cNvSpPr txBox="true"/>
            <p:nvPr/>
          </p:nvSpPr>
          <p:spPr>
            <a:xfrm>
              <a:off x="0" y="19050"/>
              <a:ext cx="5612781" cy="366749"/>
            </a:xfrm>
            <a:prstGeom prst="rect">
              <a:avLst/>
            </a:prstGeom>
          </p:spPr>
          <p:txBody>
            <a:bodyPr anchor="ctr" rtlCol="false" tIns="50800" lIns="50800" bIns="50800" rIns="50800"/>
            <a:lstStyle/>
            <a:p>
              <a:pPr algn="ctr">
                <a:lnSpc>
                  <a:spcPts val="2661"/>
                </a:lnSpc>
              </a:pPr>
            </a:p>
          </p:txBody>
        </p:sp>
      </p:grpSp>
      <p:sp>
        <p:nvSpPr>
          <p:cNvPr name="TextBox 8" id="8"/>
          <p:cNvSpPr txBox="true"/>
          <p:nvPr/>
        </p:nvSpPr>
        <p:spPr>
          <a:xfrm rot="0">
            <a:off x="916883" y="174940"/>
            <a:ext cx="17113666"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2.CƠ SỞ LÝ THUYẾT</a:t>
            </a:r>
          </a:p>
        </p:txBody>
      </p:sp>
      <p:sp>
        <p:nvSpPr>
          <p:cNvPr name="TextBox 9" id="9"/>
          <p:cNvSpPr txBox="true"/>
          <p:nvPr/>
        </p:nvSpPr>
        <p:spPr>
          <a:xfrm rot="0">
            <a:off x="407012" y="1278414"/>
            <a:ext cx="17411275" cy="9369933"/>
          </a:xfrm>
          <a:prstGeom prst="rect">
            <a:avLst/>
          </a:prstGeom>
        </p:spPr>
        <p:txBody>
          <a:bodyPr anchor="t" rtlCol="false" tIns="0" lIns="0" bIns="0" rIns="0">
            <a:spAutoFit/>
          </a:bodyPr>
          <a:lstStyle/>
          <a:p>
            <a:pPr algn="l">
              <a:lnSpc>
                <a:spcPts val="5309"/>
              </a:lnSpc>
            </a:pPr>
            <a:r>
              <a:rPr lang="en-US" sz="4500">
                <a:solidFill>
                  <a:srgbClr val="000000"/>
                </a:solidFill>
                <a:latin typeface="Times New Roman"/>
                <a:ea typeface="Times New Roman"/>
                <a:cs typeface="Times New Roman"/>
                <a:sym typeface="Times New Roman"/>
              </a:rPr>
              <a:t>2.6. Mảng đối tượng</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Khái niệm: Mảng chứa các phần tử là đối tượng cùng một lớp (DonHang a[200]).</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Tác dụng: Dùng chỉ số i và vòng lặp để quản lý, truy cập nhiều đơn hàng dễ dàng.</a:t>
            </a:r>
          </a:p>
          <a:p>
            <a:pPr algn="l">
              <a:lnSpc>
                <a:spcPts val="5309"/>
              </a:lnSpc>
            </a:pPr>
          </a:p>
          <a:p>
            <a:pPr algn="l">
              <a:lnSpc>
                <a:spcPts val="5309"/>
              </a:lnSpc>
            </a:pPr>
            <a:r>
              <a:rPr lang="en-US" sz="4500">
                <a:solidFill>
                  <a:srgbClr val="000000"/>
                </a:solidFill>
                <a:latin typeface="Times New Roman"/>
                <a:ea typeface="Times New Roman"/>
                <a:cs typeface="Times New Roman"/>
                <a:sym typeface="Times New Roman"/>
              </a:rPr>
              <a:t>2.7. Các thao tác trên mảng đối tượng</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Duyệt mảng: Dùng vòng lặp for chạy từ 0 đến n - 1.</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Sắp xếp: Hoán đổi vị trí các đối tượng theo thành tiền giảm dần.</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Tìm kiếm: So sánh mã đơn hàng nhập vào với từng phần tử trong mảng.</a:t>
            </a:r>
          </a:p>
          <a:p>
            <a:pPr algn="l" marL="971550" indent="-485775" lvl="1">
              <a:lnSpc>
                <a:spcPts val="5309"/>
              </a:lnSpc>
              <a:buFont typeface="Arial"/>
              <a:buChar char="•"/>
            </a:pPr>
            <a:r>
              <a:rPr lang="en-US" sz="4500">
                <a:solidFill>
                  <a:srgbClr val="000000"/>
                </a:solidFill>
                <a:latin typeface="Times New Roman"/>
                <a:ea typeface="Times New Roman"/>
                <a:cs typeface="Times New Roman"/>
                <a:sym typeface="Times New Roman"/>
              </a:rPr>
              <a:t>Thêm / Xóa: Dịch chuyển các phần tử trong mảng để đảm bảo danh sách luôn liên tục.</a:t>
            </a:r>
          </a:p>
          <a:p>
            <a:pPr algn="l">
              <a:lnSpc>
                <a:spcPts val="4991"/>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697500" y="0"/>
            <a:ext cx="21311029" cy="1407030"/>
            <a:chOff x="0" y="0"/>
            <a:chExt cx="5612781" cy="370576"/>
          </a:xfrm>
        </p:grpSpPr>
        <p:sp>
          <p:nvSpPr>
            <p:cNvPr name="Freeform 4" id="4"/>
            <p:cNvSpPr/>
            <p:nvPr/>
          </p:nvSpPr>
          <p:spPr>
            <a:xfrm flipH="false" flipV="false" rot="0">
              <a:off x="0" y="0"/>
              <a:ext cx="5612781" cy="370576"/>
            </a:xfrm>
            <a:custGeom>
              <a:avLst/>
              <a:gdLst/>
              <a:ahLst/>
              <a:cxnLst/>
              <a:rect r="r" b="b" t="t" l="l"/>
              <a:pathLst>
                <a:path h="370576" w="5612781">
                  <a:moveTo>
                    <a:pt x="0" y="0"/>
                  </a:moveTo>
                  <a:lnTo>
                    <a:pt x="5612781" y="0"/>
                  </a:lnTo>
                  <a:lnTo>
                    <a:pt x="5612781" y="370576"/>
                  </a:lnTo>
                  <a:lnTo>
                    <a:pt x="0" y="370576"/>
                  </a:lnTo>
                  <a:close/>
                </a:path>
              </a:pathLst>
            </a:custGeom>
            <a:solidFill>
              <a:srgbClr val="2B59C3">
                <a:alpha val="71765"/>
              </a:srgbClr>
            </a:solidFill>
          </p:spPr>
        </p:sp>
        <p:sp>
          <p:nvSpPr>
            <p:cNvPr name="TextBox 5" id="5"/>
            <p:cNvSpPr txBox="true"/>
            <p:nvPr/>
          </p:nvSpPr>
          <p:spPr>
            <a:xfrm>
              <a:off x="0" y="19050"/>
              <a:ext cx="5612781" cy="351526"/>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5017391" y="8051115"/>
            <a:ext cx="3270609" cy="4969158"/>
          </a:xfrm>
          <a:custGeom>
            <a:avLst/>
            <a:gdLst/>
            <a:ahLst/>
            <a:cxnLst/>
            <a:rect r="r" b="b" t="t" l="l"/>
            <a:pathLst>
              <a:path h="4969158" w="3270609">
                <a:moveTo>
                  <a:pt x="0" y="0"/>
                </a:moveTo>
                <a:lnTo>
                  <a:pt x="3270609" y="0"/>
                </a:lnTo>
                <a:lnTo>
                  <a:pt x="3270609" y="4969158"/>
                </a:lnTo>
                <a:lnTo>
                  <a:pt x="0" y="4969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706848" y="1042888"/>
            <a:ext cx="1663920" cy="1636693"/>
          </a:xfrm>
          <a:custGeom>
            <a:avLst/>
            <a:gdLst/>
            <a:ahLst/>
            <a:cxnLst/>
            <a:rect r="r" b="b" t="t" l="l"/>
            <a:pathLst>
              <a:path h="1636693" w="1663920">
                <a:moveTo>
                  <a:pt x="0" y="0"/>
                </a:moveTo>
                <a:lnTo>
                  <a:pt x="1663920" y="0"/>
                </a:lnTo>
                <a:lnTo>
                  <a:pt x="1663920" y="1636693"/>
                </a:lnTo>
                <a:lnTo>
                  <a:pt x="0" y="16366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126286" y="263029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
        <p:nvSpPr>
          <p:cNvPr name="Freeform 9" id="9"/>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
        <p:nvSpPr>
          <p:cNvPr name="TextBox 10" id="10"/>
          <p:cNvSpPr txBox="true"/>
          <p:nvPr/>
        </p:nvSpPr>
        <p:spPr>
          <a:xfrm rot="0">
            <a:off x="224512" y="304417"/>
            <a:ext cx="1838901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3. PHÂN TÍCH VÀ THIẾT KẾ CHƯƠNG TRÌNH</a:t>
            </a:r>
          </a:p>
        </p:txBody>
      </p:sp>
      <p:sp>
        <p:nvSpPr>
          <p:cNvPr name="TextBox 11" id="11"/>
          <p:cNvSpPr txBox="true"/>
          <p:nvPr/>
        </p:nvSpPr>
        <p:spPr>
          <a:xfrm rot="0">
            <a:off x="224512" y="1995774"/>
            <a:ext cx="18063488" cy="6868731"/>
          </a:xfrm>
          <a:prstGeom prst="rect">
            <a:avLst/>
          </a:prstGeom>
        </p:spPr>
        <p:txBody>
          <a:bodyPr anchor="t" rtlCol="false" tIns="0" lIns="0" bIns="0" rIns="0">
            <a:spAutoFit/>
          </a:bodyPr>
          <a:lstStyle/>
          <a:p>
            <a:pPr algn="l">
              <a:lnSpc>
                <a:spcPts val="5093"/>
              </a:lnSpc>
            </a:pPr>
            <a:r>
              <a:rPr lang="en-US" sz="4897">
                <a:solidFill>
                  <a:srgbClr val="000000"/>
                </a:solidFill>
                <a:latin typeface="Times New Roman"/>
                <a:ea typeface="Times New Roman"/>
                <a:cs typeface="Times New Roman"/>
                <a:sym typeface="Times New Roman"/>
              </a:rPr>
              <a:t>3.1. Phân tích bài toán</a:t>
            </a:r>
          </a:p>
          <a:p>
            <a:pPr algn="l" marL="972120" indent="-486060" lvl="1">
              <a:lnSpc>
                <a:spcPts val="7339"/>
              </a:lnSpc>
              <a:buFont typeface="Arial"/>
              <a:buChar char="•"/>
            </a:pPr>
            <a:r>
              <a:rPr lang="en-US" sz="4502">
                <a:solidFill>
                  <a:srgbClr val="000000"/>
                </a:solidFill>
                <a:latin typeface="Times New Roman"/>
                <a:ea typeface="Times New Roman"/>
                <a:cs typeface="Times New Roman"/>
                <a:sym typeface="Times New Roman"/>
              </a:rPr>
              <a:t>Đối tượng quản lý: Đơn hàng bán lẻ (DonHang), lưu trong mảng đối tượng danh sách n phần tử.</a:t>
            </a:r>
          </a:p>
          <a:p>
            <a:pPr algn="l" marL="972120" indent="-486060" lvl="1">
              <a:lnSpc>
                <a:spcPts val="7339"/>
              </a:lnSpc>
              <a:buFont typeface="Arial"/>
              <a:buChar char="•"/>
            </a:pPr>
            <a:r>
              <a:rPr lang="en-US" sz="4502">
                <a:solidFill>
                  <a:srgbClr val="000000"/>
                </a:solidFill>
                <a:latin typeface="Times New Roman"/>
                <a:ea typeface="Times New Roman"/>
                <a:cs typeface="Times New Roman"/>
                <a:sym typeface="Times New Roman"/>
              </a:rPr>
              <a:t>Thông tin (7 thuộc tính): Mã đơn hàng, Tên khách hàng, Ngày đặt, Số lượng sản phẩm, Tổng tiền, Tỷ lệ chiết khấu, Thành tiền sau chiết khấu.</a:t>
            </a:r>
          </a:p>
          <a:p>
            <a:pPr algn="l" marL="972120" indent="-486060" lvl="1">
              <a:lnSpc>
                <a:spcPts val="7339"/>
              </a:lnSpc>
              <a:buFont typeface="Arial"/>
              <a:buChar char="•"/>
            </a:pPr>
            <a:r>
              <a:rPr lang="en-US" sz="4502">
                <a:solidFill>
                  <a:srgbClr val="000000"/>
                </a:solidFill>
                <a:latin typeface="Times New Roman"/>
                <a:ea typeface="Times New Roman"/>
                <a:cs typeface="Times New Roman"/>
                <a:sym typeface="Times New Roman"/>
              </a:rPr>
              <a:t>Yêu cầu xử lý: Nhập, xuất, sắp xếp (thành tiền giảm dần), tìm kiếm (theo mã), thêm và xóa đơn hàng tại vị trí chỉ định.</a:t>
            </a:r>
          </a:p>
          <a:p>
            <a:pPr algn="ctr">
              <a:lnSpc>
                <a:spcPts val="4682"/>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697500" y="0"/>
            <a:ext cx="21311029" cy="1407030"/>
            <a:chOff x="0" y="0"/>
            <a:chExt cx="5612781" cy="370576"/>
          </a:xfrm>
        </p:grpSpPr>
        <p:sp>
          <p:nvSpPr>
            <p:cNvPr name="Freeform 4" id="4"/>
            <p:cNvSpPr/>
            <p:nvPr/>
          </p:nvSpPr>
          <p:spPr>
            <a:xfrm flipH="false" flipV="false" rot="0">
              <a:off x="0" y="0"/>
              <a:ext cx="5612781" cy="370576"/>
            </a:xfrm>
            <a:custGeom>
              <a:avLst/>
              <a:gdLst/>
              <a:ahLst/>
              <a:cxnLst/>
              <a:rect r="r" b="b" t="t" l="l"/>
              <a:pathLst>
                <a:path h="370576" w="5612781">
                  <a:moveTo>
                    <a:pt x="0" y="0"/>
                  </a:moveTo>
                  <a:lnTo>
                    <a:pt x="5612781" y="0"/>
                  </a:lnTo>
                  <a:lnTo>
                    <a:pt x="5612781" y="370576"/>
                  </a:lnTo>
                  <a:lnTo>
                    <a:pt x="0" y="370576"/>
                  </a:lnTo>
                  <a:close/>
                </a:path>
              </a:pathLst>
            </a:custGeom>
            <a:solidFill>
              <a:srgbClr val="2B59C3">
                <a:alpha val="71765"/>
              </a:srgbClr>
            </a:solidFill>
          </p:spPr>
        </p:sp>
        <p:sp>
          <p:nvSpPr>
            <p:cNvPr name="TextBox 5" id="5"/>
            <p:cNvSpPr txBox="true"/>
            <p:nvPr/>
          </p:nvSpPr>
          <p:spPr>
            <a:xfrm>
              <a:off x="0" y="19050"/>
              <a:ext cx="5612781" cy="351526"/>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6706848" y="680833"/>
            <a:ext cx="1663920" cy="1636693"/>
          </a:xfrm>
          <a:custGeom>
            <a:avLst/>
            <a:gdLst/>
            <a:ahLst/>
            <a:cxnLst/>
            <a:rect r="r" b="b" t="t" l="l"/>
            <a:pathLst>
              <a:path h="1636693" w="1663920">
                <a:moveTo>
                  <a:pt x="0" y="0"/>
                </a:moveTo>
                <a:lnTo>
                  <a:pt x="1663920" y="0"/>
                </a:lnTo>
                <a:lnTo>
                  <a:pt x="1663920" y="1636692"/>
                </a:lnTo>
                <a:lnTo>
                  <a:pt x="0" y="1636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126286" y="263029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8" id="8"/>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9" id="9"/>
          <p:cNvSpPr/>
          <p:nvPr/>
        </p:nvSpPr>
        <p:spPr>
          <a:xfrm flipH="false" flipV="false" rot="0">
            <a:off x="8572986" y="2679581"/>
            <a:ext cx="9797782" cy="5477664"/>
          </a:xfrm>
          <a:custGeom>
            <a:avLst/>
            <a:gdLst/>
            <a:ahLst/>
            <a:cxnLst/>
            <a:rect r="r" b="b" t="t" l="l"/>
            <a:pathLst>
              <a:path h="5477664" w="9797782">
                <a:moveTo>
                  <a:pt x="0" y="0"/>
                </a:moveTo>
                <a:lnTo>
                  <a:pt x="9797782" y="0"/>
                </a:lnTo>
                <a:lnTo>
                  <a:pt x="9797782" y="5477664"/>
                </a:lnTo>
                <a:lnTo>
                  <a:pt x="0" y="5477664"/>
                </a:lnTo>
                <a:lnTo>
                  <a:pt x="0" y="0"/>
                </a:lnTo>
                <a:close/>
              </a:path>
            </a:pathLst>
          </a:custGeom>
          <a:blipFill>
            <a:blip r:embed="rId6"/>
            <a:stretch>
              <a:fillRect l="-6344" t="-1228" r="-5428" b="0"/>
            </a:stretch>
          </a:blipFill>
        </p:spPr>
      </p:sp>
      <p:sp>
        <p:nvSpPr>
          <p:cNvPr name="TextBox 10" id="10"/>
          <p:cNvSpPr txBox="true"/>
          <p:nvPr/>
        </p:nvSpPr>
        <p:spPr>
          <a:xfrm rot="0">
            <a:off x="224512" y="304417"/>
            <a:ext cx="1838901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3. PHÂN TÍCH VÀ THIẾT KẾ CHƯƠNG TRÌNH</a:t>
            </a:r>
          </a:p>
        </p:txBody>
      </p:sp>
      <p:sp>
        <p:nvSpPr>
          <p:cNvPr name="TextBox 11" id="11"/>
          <p:cNvSpPr txBox="true"/>
          <p:nvPr/>
        </p:nvSpPr>
        <p:spPr>
          <a:xfrm rot="0">
            <a:off x="-5419682" y="1667071"/>
            <a:ext cx="18288000" cy="1348534"/>
          </a:xfrm>
          <a:prstGeom prst="rect">
            <a:avLst/>
          </a:prstGeom>
        </p:spPr>
        <p:txBody>
          <a:bodyPr anchor="t" rtlCol="false" tIns="0" lIns="0" bIns="0" rIns="0">
            <a:spAutoFit/>
          </a:bodyPr>
          <a:lstStyle/>
          <a:p>
            <a:pPr algn="ctr">
              <a:lnSpc>
                <a:spcPts val="5156"/>
              </a:lnSpc>
            </a:pPr>
            <a:r>
              <a:rPr lang="en-US" sz="4958">
                <a:solidFill>
                  <a:srgbClr val="000000"/>
                </a:solidFill>
                <a:latin typeface="Times New Roman"/>
                <a:ea typeface="Times New Roman"/>
                <a:cs typeface="Times New Roman"/>
                <a:sym typeface="Times New Roman"/>
              </a:rPr>
              <a:t>3.2 Thiết kế lớp DonHang</a:t>
            </a:r>
          </a:p>
          <a:p>
            <a:pPr algn="ctr">
              <a:lnSpc>
                <a:spcPts val="5156"/>
              </a:lnSpc>
              <a:spcBef>
                <a:spcPct val="0"/>
              </a:spcBef>
            </a:pPr>
          </a:p>
        </p:txBody>
      </p:sp>
      <p:sp>
        <p:nvSpPr>
          <p:cNvPr name="TextBox 12" id="12"/>
          <p:cNvSpPr txBox="true"/>
          <p:nvPr/>
        </p:nvSpPr>
        <p:spPr>
          <a:xfrm rot="0">
            <a:off x="0" y="2458844"/>
            <a:ext cx="8490218" cy="7563645"/>
          </a:xfrm>
          <a:prstGeom prst="rect">
            <a:avLst/>
          </a:prstGeom>
        </p:spPr>
        <p:txBody>
          <a:bodyPr anchor="t" rtlCol="false" tIns="0" lIns="0" bIns="0" rIns="0">
            <a:spAutoFit/>
          </a:bodyPr>
          <a:lstStyle/>
          <a:p>
            <a:pPr algn="l" marL="833077" indent="-416538" lvl="1">
              <a:lnSpc>
                <a:spcPts val="6135"/>
              </a:lnSpc>
              <a:buFont typeface="Arial"/>
              <a:buChar char="•"/>
            </a:pPr>
            <a:r>
              <a:rPr lang="en-US" sz="3858">
                <a:solidFill>
                  <a:srgbClr val="000000"/>
                </a:solidFill>
                <a:latin typeface="Times New Roman"/>
                <a:ea typeface="Times New Roman"/>
                <a:cs typeface="Times New Roman"/>
                <a:sym typeface="Times New Roman"/>
              </a:rPr>
              <a:t>Phương thức cơ bản: nhap() (nhập 1 đơn hàng) và xuat() (hiển thị 1 đơn hàng).</a:t>
            </a:r>
          </a:p>
          <a:p>
            <a:pPr algn="l" marL="833077" indent="-416538" lvl="1">
              <a:lnSpc>
                <a:spcPts val="6135"/>
              </a:lnSpc>
              <a:buFont typeface="Arial"/>
              <a:buChar char="•"/>
            </a:pPr>
            <a:r>
              <a:rPr lang="en-US" sz="3858">
                <a:solidFill>
                  <a:srgbClr val="000000"/>
                </a:solidFill>
                <a:latin typeface="Times New Roman"/>
                <a:ea typeface="Times New Roman"/>
                <a:cs typeface="Times New Roman"/>
                <a:sym typeface="Times New Roman"/>
              </a:rPr>
              <a:t>Phương thức xử lý danh sách: sapxep(), timkiem(), bosung(), xoa().</a:t>
            </a:r>
          </a:p>
          <a:p>
            <a:pPr algn="l" marL="833077" indent="-416538" lvl="1">
              <a:lnSpc>
                <a:spcPts val="6135"/>
              </a:lnSpc>
              <a:buFont typeface="Arial"/>
              <a:buChar char="•"/>
            </a:pPr>
            <a:r>
              <a:rPr lang="en-US" sz="3858">
                <a:solidFill>
                  <a:srgbClr val="000000"/>
                </a:solidFill>
                <a:latin typeface="Times New Roman"/>
                <a:ea typeface="Times New Roman"/>
                <a:cs typeface="Times New Roman"/>
                <a:sym typeface="Times New Roman"/>
              </a:rPr>
              <a:t>Đặc điểm cài đặt: Các hàm xử lý danh sách được đặt bên trong lớp nhưng nhận mảng đối tượng và số lượng n làm tham số truyền vào.</a:t>
            </a:r>
          </a:p>
          <a:p>
            <a:pPr algn="l">
              <a:lnSpc>
                <a:spcPts val="4012"/>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697500" y="0"/>
            <a:ext cx="21311029" cy="1407030"/>
            <a:chOff x="0" y="0"/>
            <a:chExt cx="5612781" cy="370576"/>
          </a:xfrm>
        </p:grpSpPr>
        <p:sp>
          <p:nvSpPr>
            <p:cNvPr name="Freeform 4" id="4"/>
            <p:cNvSpPr/>
            <p:nvPr/>
          </p:nvSpPr>
          <p:spPr>
            <a:xfrm flipH="false" flipV="false" rot="0">
              <a:off x="0" y="0"/>
              <a:ext cx="5612781" cy="370576"/>
            </a:xfrm>
            <a:custGeom>
              <a:avLst/>
              <a:gdLst/>
              <a:ahLst/>
              <a:cxnLst/>
              <a:rect r="r" b="b" t="t" l="l"/>
              <a:pathLst>
                <a:path h="370576" w="5612781">
                  <a:moveTo>
                    <a:pt x="0" y="0"/>
                  </a:moveTo>
                  <a:lnTo>
                    <a:pt x="5612781" y="0"/>
                  </a:lnTo>
                  <a:lnTo>
                    <a:pt x="5612781" y="370576"/>
                  </a:lnTo>
                  <a:lnTo>
                    <a:pt x="0" y="370576"/>
                  </a:lnTo>
                  <a:close/>
                </a:path>
              </a:pathLst>
            </a:custGeom>
            <a:solidFill>
              <a:srgbClr val="2B59C3">
                <a:alpha val="71765"/>
              </a:srgbClr>
            </a:solidFill>
          </p:spPr>
        </p:sp>
        <p:sp>
          <p:nvSpPr>
            <p:cNvPr name="TextBox 5" id="5"/>
            <p:cNvSpPr txBox="true"/>
            <p:nvPr/>
          </p:nvSpPr>
          <p:spPr>
            <a:xfrm>
              <a:off x="0" y="19050"/>
              <a:ext cx="5612781" cy="351526"/>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6706848" y="680833"/>
            <a:ext cx="1663920" cy="1636693"/>
          </a:xfrm>
          <a:custGeom>
            <a:avLst/>
            <a:gdLst/>
            <a:ahLst/>
            <a:cxnLst/>
            <a:rect r="r" b="b" t="t" l="l"/>
            <a:pathLst>
              <a:path h="1636693" w="1663920">
                <a:moveTo>
                  <a:pt x="0" y="0"/>
                </a:moveTo>
                <a:lnTo>
                  <a:pt x="1663920" y="0"/>
                </a:lnTo>
                <a:lnTo>
                  <a:pt x="1663920" y="1636692"/>
                </a:lnTo>
                <a:lnTo>
                  <a:pt x="0" y="1636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126286" y="263029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8" id="8"/>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9" id="9"/>
          <p:cNvSpPr/>
          <p:nvPr/>
        </p:nvSpPr>
        <p:spPr>
          <a:xfrm flipH="false" flipV="false" rot="0">
            <a:off x="9144000" y="3015605"/>
            <a:ext cx="9258151" cy="5895860"/>
          </a:xfrm>
          <a:custGeom>
            <a:avLst/>
            <a:gdLst/>
            <a:ahLst/>
            <a:cxnLst/>
            <a:rect r="r" b="b" t="t" l="l"/>
            <a:pathLst>
              <a:path h="5895860" w="9258151">
                <a:moveTo>
                  <a:pt x="0" y="0"/>
                </a:moveTo>
                <a:lnTo>
                  <a:pt x="9258151" y="0"/>
                </a:lnTo>
                <a:lnTo>
                  <a:pt x="9258151" y="5895859"/>
                </a:lnTo>
                <a:lnTo>
                  <a:pt x="0" y="5895859"/>
                </a:lnTo>
                <a:lnTo>
                  <a:pt x="0" y="0"/>
                </a:lnTo>
                <a:close/>
              </a:path>
            </a:pathLst>
          </a:custGeom>
          <a:blipFill>
            <a:blip r:embed="rId6"/>
            <a:stretch>
              <a:fillRect l="-8880" t="0" r="0" b="0"/>
            </a:stretch>
          </a:blipFill>
        </p:spPr>
      </p:sp>
      <p:sp>
        <p:nvSpPr>
          <p:cNvPr name="TextBox 10" id="10"/>
          <p:cNvSpPr txBox="true"/>
          <p:nvPr/>
        </p:nvSpPr>
        <p:spPr>
          <a:xfrm rot="0">
            <a:off x="224512" y="304417"/>
            <a:ext cx="1838901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3. PHÂN TÍCH VÀ THIẾT KẾ CHƯƠNG TRÌNH</a:t>
            </a:r>
          </a:p>
        </p:txBody>
      </p:sp>
      <p:sp>
        <p:nvSpPr>
          <p:cNvPr name="TextBox 11" id="11"/>
          <p:cNvSpPr txBox="true"/>
          <p:nvPr/>
        </p:nvSpPr>
        <p:spPr>
          <a:xfrm rot="0">
            <a:off x="-3963116" y="1667071"/>
            <a:ext cx="18288000" cy="1348534"/>
          </a:xfrm>
          <a:prstGeom prst="rect">
            <a:avLst/>
          </a:prstGeom>
        </p:spPr>
        <p:txBody>
          <a:bodyPr anchor="t" rtlCol="false" tIns="0" lIns="0" bIns="0" rIns="0">
            <a:spAutoFit/>
          </a:bodyPr>
          <a:lstStyle/>
          <a:p>
            <a:pPr algn="ctr">
              <a:lnSpc>
                <a:spcPts val="5156"/>
              </a:lnSpc>
            </a:pPr>
            <a:r>
              <a:rPr lang="en-US" sz="4958">
                <a:solidFill>
                  <a:srgbClr val="000000"/>
                </a:solidFill>
                <a:latin typeface="Times New Roman"/>
                <a:ea typeface="Times New Roman"/>
                <a:cs typeface="Times New Roman"/>
                <a:sym typeface="Times New Roman"/>
              </a:rPr>
              <a:t>3.3. Thiết kế các chức năng quản lý</a:t>
            </a:r>
          </a:p>
          <a:p>
            <a:pPr algn="ctr">
              <a:lnSpc>
                <a:spcPts val="5156"/>
              </a:lnSpc>
              <a:spcBef>
                <a:spcPct val="0"/>
              </a:spcBef>
            </a:pPr>
          </a:p>
        </p:txBody>
      </p:sp>
      <p:sp>
        <p:nvSpPr>
          <p:cNvPr name="TextBox 12" id="12"/>
          <p:cNvSpPr txBox="true"/>
          <p:nvPr/>
        </p:nvSpPr>
        <p:spPr>
          <a:xfrm rot="0">
            <a:off x="0" y="2882255"/>
            <a:ext cx="8749513" cy="7291031"/>
          </a:xfrm>
          <a:prstGeom prst="rect">
            <a:avLst/>
          </a:prstGeom>
        </p:spPr>
        <p:txBody>
          <a:bodyPr anchor="t" rtlCol="false" tIns="0" lIns="0" bIns="0" rIns="0">
            <a:spAutoFit/>
          </a:bodyPr>
          <a:lstStyle/>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Cách gọi hàm: Trong main(), các hàm danh sách được gọi qua một đối tượng đại diện (ví dụ: a[0].sapxep(a, n)).</a:t>
            </a:r>
          </a:p>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Bản chất: Đối tượng a[0] chỉ đóng vai trò "đầu mối" để kích hoạt phương thức; các thao tác thực tế xử lý trên toàn bộ mảng a được truyền qua tham số chứ không dùng dữ liệu riêng của a[0].</a:t>
            </a:r>
          </a:p>
          <a:p>
            <a:pPr algn="l">
              <a:lnSpc>
                <a:spcPts val="4012"/>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16915146" y="3015605"/>
            <a:ext cx="3391296" cy="5469833"/>
          </a:xfrm>
          <a:custGeom>
            <a:avLst/>
            <a:gdLst/>
            <a:ahLst/>
            <a:cxnLst/>
            <a:rect r="r" b="b" t="t" l="l"/>
            <a:pathLst>
              <a:path h="5469833" w="3391296">
                <a:moveTo>
                  <a:pt x="3391296" y="0"/>
                </a:moveTo>
                <a:lnTo>
                  <a:pt x="0" y="0"/>
                </a:lnTo>
                <a:lnTo>
                  <a:pt x="0" y="5469832"/>
                </a:lnTo>
                <a:lnTo>
                  <a:pt x="3391296" y="5469832"/>
                </a:lnTo>
                <a:lnTo>
                  <a:pt x="339129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5">
              <a:alphaModFix amt="71000"/>
            </a:blip>
            <a:stretch>
              <a:fillRect l="0" t="0" r="0" b="0"/>
            </a:stretch>
          </a:blipFill>
        </p:spPr>
      </p:sp>
      <p:sp>
        <p:nvSpPr>
          <p:cNvPr name="Freeform 5" id="5"/>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5">
              <a:alphaModFix amt="71000"/>
            </a:blip>
            <a:stretch>
              <a:fillRect l="0" t="0" r="0" b="0"/>
            </a:stretch>
          </a:blipFill>
        </p:spPr>
      </p:sp>
      <p:grpSp>
        <p:nvGrpSpPr>
          <p:cNvPr name="Group 6" id="6"/>
          <p:cNvGrpSpPr/>
          <p:nvPr/>
        </p:nvGrpSpPr>
        <p:grpSpPr>
          <a:xfrm rot="0">
            <a:off x="-2700235" y="0"/>
            <a:ext cx="21311029" cy="1376685"/>
            <a:chOff x="0" y="0"/>
            <a:chExt cx="5612781" cy="362584"/>
          </a:xfrm>
        </p:grpSpPr>
        <p:sp>
          <p:nvSpPr>
            <p:cNvPr name="Freeform 7" id="7"/>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8" id="8"/>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false" flipV="false" rot="0">
            <a:off x="9933506" y="3764292"/>
            <a:ext cx="6611774" cy="1986229"/>
          </a:xfrm>
          <a:custGeom>
            <a:avLst/>
            <a:gdLst/>
            <a:ahLst/>
            <a:cxnLst/>
            <a:rect r="r" b="b" t="t" l="l"/>
            <a:pathLst>
              <a:path h="1986229" w="6611774">
                <a:moveTo>
                  <a:pt x="0" y="0"/>
                </a:moveTo>
                <a:lnTo>
                  <a:pt x="6611774" y="0"/>
                </a:lnTo>
                <a:lnTo>
                  <a:pt x="6611774" y="1986229"/>
                </a:lnTo>
                <a:lnTo>
                  <a:pt x="0" y="1986229"/>
                </a:lnTo>
                <a:lnTo>
                  <a:pt x="0" y="0"/>
                </a:lnTo>
                <a:close/>
              </a:path>
            </a:pathLst>
          </a:custGeom>
          <a:blipFill>
            <a:blip r:embed="rId6"/>
            <a:stretch>
              <a:fillRect l="0" t="-972" r="0" b="-972"/>
            </a:stretch>
          </a:blipFill>
        </p:spPr>
      </p:sp>
      <p:sp>
        <p:nvSpPr>
          <p:cNvPr name="TextBox 10" id="10"/>
          <p:cNvSpPr txBox="true"/>
          <p:nvPr/>
        </p:nvSpPr>
        <p:spPr>
          <a:xfrm rot="0">
            <a:off x="546212" y="267147"/>
            <a:ext cx="1760415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1" id="11"/>
          <p:cNvSpPr txBox="true"/>
          <p:nvPr/>
        </p:nvSpPr>
        <p:spPr>
          <a:xfrm rot="0">
            <a:off x="894794" y="1888046"/>
            <a:ext cx="5568404" cy="709389"/>
          </a:xfrm>
          <a:prstGeom prst="rect">
            <a:avLst/>
          </a:prstGeom>
        </p:spPr>
        <p:txBody>
          <a:bodyPr anchor="t" rtlCol="false" tIns="0" lIns="0" bIns="0" rIns="0">
            <a:spAutoFit/>
          </a:bodyPr>
          <a:lstStyle/>
          <a:p>
            <a:pPr algn="ctr">
              <a:lnSpc>
                <a:spcPts val="5107"/>
              </a:lnSpc>
              <a:spcBef>
                <a:spcPct val="0"/>
              </a:spcBef>
            </a:pPr>
            <a:r>
              <a:rPr lang="en-US" sz="4910">
                <a:solidFill>
                  <a:srgbClr val="000000"/>
                </a:solidFill>
                <a:latin typeface="Times New Roman"/>
                <a:ea typeface="Times New Roman"/>
                <a:cs typeface="Times New Roman"/>
                <a:sym typeface="Times New Roman"/>
              </a:rPr>
              <a:t>4.1 Khai báo thư viện </a:t>
            </a:r>
          </a:p>
        </p:txBody>
      </p:sp>
      <p:sp>
        <p:nvSpPr>
          <p:cNvPr name="TextBox 12" id="12"/>
          <p:cNvSpPr txBox="true"/>
          <p:nvPr/>
        </p:nvSpPr>
        <p:spPr>
          <a:xfrm rot="0">
            <a:off x="0" y="2882255"/>
            <a:ext cx="8749513" cy="6674104"/>
          </a:xfrm>
          <a:prstGeom prst="rect">
            <a:avLst/>
          </a:prstGeom>
        </p:spPr>
        <p:txBody>
          <a:bodyPr anchor="t" rtlCol="false" tIns="0" lIns="0" bIns="0" rIns="0">
            <a:spAutoFit/>
          </a:bodyPr>
          <a:lstStyle/>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Thư viện iostream: Hỗ trợ nhập xuất dữ liệu chuẩn bằng: cin, cout</a:t>
            </a:r>
          </a:p>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Thư viện string &amp; namespace std: Cung cấp kiểu chuỗi và không gian tên có thể sử dụng trực tiếp các thành phần của không gian tên std.</a:t>
            </a:r>
          </a:p>
          <a:p>
            <a:pPr algn="l">
              <a:lnSpc>
                <a:spcPts val="5898"/>
              </a:lnSpc>
            </a:pPr>
          </a:p>
          <a:p>
            <a:pPr algn="l">
              <a:lnSpc>
                <a:spcPts val="5898"/>
              </a:lnSpc>
            </a:pPr>
          </a:p>
          <a:p>
            <a:pPr algn="l">
              <a:lnSpc>
                <a:spcPts val="5898"/>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16545280" y="7754980"/>
            <a:ext cx="1864117" cy="3006641"/>
          </a:xfrm>
          <a:custGeom>
            <a:avLst/>
            <a:gdLst/>
            <a:ahLst/>
            <a:cxnLst/>
            <a:rect r="r" b="b" t="t" l="l"/>
            <a:pathLst>
              <a:path h="3006641" w="1864117">
                <a:moveTo>
                  <a:pt x="1864117" y="0"/>
                </a:moveTo>
                <a:lnTo>
                  <a:pt x="0" y="0"/>
                </a:lnTo>
                <a:lnTo>
                  <a:pt x="0" y="3006640"/>
                </a:lnTo>
                <a:lnTo>
                  <a:pt x="1864117" y="3006640"/>
                </a:lnTo>
                <a:lnTo>
                  <a:pt x="18641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5">
              <a:alphaModFix amt="71000"/>
            </a:blip>
            <a:stretch>
              <a:fillRect l="0" t="0" r="0" b="0"/>
            </a:stretch>
          </a:blipFill>
        </p:spPr>
      </p:sp>
      <p:sp>
        <p:nvSpPr>
          <p:cNvPr name="Freeform 5" id="5"/>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5">
              <a:alphaModFix amt="71000"/>
            </a:blip>
            <a:stretch>
              <a:fillRect l="0" t="0" r="0" b="0"/>
            </a:stretch>
          </a:blipFill>
        </p:spPr>
      </p:sp>
      <p:grpSp>
        <p:nvGrpSpPr>
          <p:cNvPr name="Group 6" id="6"/>
          <p:cNvGrpSpPr/>
          <p:nvPr/>
        </p:nvGrpSpPr>
        <p:grpSpPr>
          <a:xfrm rot="0">
            <a:off x="-2700235" y="0"/>
            <a:ext cx="21311029" cy="1376685"/>
            <a:chOff x="0" y="0"/>
            <a:chExt cx="5612781" cy="362584"/>
          </a:xfrm>
        </p:grpSpPr>
        <p:sp>
          <p:nvSpPr>
            <p:cNvPr name="Freeform 7" id="7"/>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8" id="8"/>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false" flipV="false" rot="0">
            <a:off x="9992751" y="2850283"/>
            <a:ext cx="7266549" cy="5190784"/>
          </a:xfrm>
          <a:custGeom>
            <a:avLst/>
            <a:gdLst/>
            <a:ahLst/>
            <a:cxnLst/>
            <a:rect r="r" b="b" t="t" l="l"/>
            <a:pathLst>
              <a:path h="5190784" w="7266549">
                <a:moveTo>
                  <a:pt x="0" y="0"/>
                </a:moveTo>
                <a:lnTo>
                  <a:pt x="7266549" y="0"/>
                </a:lnTo>
                <a:lnTo>
                  <a:pt x="7266549" y="5190784"/>
                </a:lnTo>
                <a:lnTo>
                  <a:pt x="0" y="5190784"/>
                </a:lnTo>
                <a:lnTo>
                  <a:pt x="0" y="0"/>
                </a:lnTo>
                <a:close/>
              </a:path>
            </a:pathLst>
          </a:custGeom>
          <a:blipFill>
            <a:blip r:embed="rId6"/>
            <a:stretch>
              <a:fillRect l="0" t="0" r="-37307" b="0"/>
            </a:stretch>
          </a:blipFill>
        </p:spPr>
      </p:sp>
      <p:sp>
        <p:nvSpPr>
          <p:cNvPr name="TextBox 10" id="10"/>
          <p:cNvSpPr txBox="true"/>
          <p:nvPr/>
        </p:nvSpPr>
        <p:spPr>
          <a:xfrm rot="0">
            <a:off x="546212" y="267147"/>
            <a:ext cx="17586141"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1" id="11"/>
          <p:cNvSpPr txBox="true"/>
          <p:nvPr/>
        </p:nvSpPr>
        <p:spPr>
          <a:xfrm rot="0">
            <a:off x="1093489" y="1888046"/>
            <a:ext cx="7110859"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4.2. Xây dựng lớp DonHang</a:t>
            </a:r>
          </a:p>
          <a:p>
            <a:pPr algn="ctr">
              <a:lnSpc>
                <a:spcPts val="5107"/>
              </a:lnSpc>
              <a:spcBef>
                <a:spcPct val="0"/>
              </a:spcBef>
            </a:pPr>
          </a:p>
        </p:txBody>
      </p:sp>
      <p:sp>
        <p:nvSpPr>
          <p:cNvPr name="TextBox 12" id="12"/>
          <p:cNvSpPr txBox="true"/>
          <p:nvPr/>
        </p:nvSpPr>
        <p:spPr>
          <a:xfrm rot="0">
            <a:off x="920664" y="2852863"/>
            <a:ext cx="8749513" cy="5188204"/>
          </a:xfrm>
          <a:prstGeom prst="rect">
            <a:avLst/>
          </a:prstGeom>
        </p:spPr>
        <p:txBody>
          <a:bodyPr anchor="t" rtlCol="false" tIns="0" lIns="0" bIns="0" rIns="0">
            <a:spAutoFit/>
          </a:bodyPr>
          <a:lstStyle/>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Tính đóng gói: Các thuộc tính đặt trong private để bảo vệ dữ liệu.</a:t>
            </a:r>
          </a:p>
          <a:p>
            <a:pPr algn="l" marL="854666" indent="-427333" lvl="1">
              <a:lnSpc>
                <a:spcPts val="5898"/>
              </a:lnSpc>
              <a:buFont typeface="Arial"/>
              <a:buChar char="•"/>
            </a:pPr>
            <a:r>
              <a:rPr lang="en-US" sz="3958">
                <a:solidFill>
                  <a:srgbClr val="000000"/>
                </a:solidFill>
                <a:latin typeface="Times New Roman"/>
                <a:ea typeface="Times New Roman"/>
                <a:cs typeface="Times New Roman"/>
                <a:sym typeface="Times New Roman"/>
              </a:rPr>
              <a:t>Giao diện công khai: Các phương thức đặt trong public để tương tác ngoài main</a:t>
            </a:r>
          </a:p>
          <a:p>
            <a:pPr algn="l">
              <a:lnSpc>
                <a:spcPts val="5898"/>
              </a:lnSpc>
            </a:pPr>
          </a:p>
          <a:p>
            <a:pPr algn="l">
              <a:lnSpc>
                <a:spcPts val="5898"/>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10509072" y="1631786"/>
            <a:ext cx="6360286" cy="4301965"/>
          </a:xfrm>
          <a:custGeom>
            <a:avLst/>
            <a:gdLst/>
            <a:ahLst/>
            <a:cxnLst/>
            <a:rect r="r" b="b" t="t" l="l"/>
            <a:pathLst>
              <a:path h="4301965" w="6360286">
                <a:moveTo>
                  <a:pt x="0" y="0"/>
                </a:moveTo>
                <a:lnTo>
                  <a:pt x="6360286" y="0"/>
                </a:lnTo>
                <a:lnTo>
                  <a:pt x="6360286" y="4301965"/>
                </a:lnTo>
                <a:lnTo>
                  <a:pt x="0" y="4301965"/>
                </a:lnTo>
                <a:lnTo>
                  <a:pt x="0" y="0"/>
                </a:lnTo>
                <a:close/>
              </a:path>
            </a:pathLst>
          </a:custGeom>
          <a:blipFill>
            <a:blip r:embed="rId4"/>
            <a:stretch>
              <a:fillRect l="-421" t="-2967" r="-421" b="0"/>
            </a:stretch>
          </a:blipFill>
        </p:spPr>
      </p:sp>
      <p:sp>
        <p:nvSpPr>
          <p:cNvPr name="Freeform 9" id="9"/>
          <p:cNvSpPr/>
          <p:nvPr/>
        </p:nvSpPr>
        <p:spPr>
          <a:xfrm flipH="false" flipV="false" rot="0">
            <a:off x="219653" y="6737921"/>
            <a:ext cx="7735626" cy="2520379"/>
          </a:xfrm>
          <a:custGeom>
            <a:avLst/>
            <a:gdLst/>
            <a:ahLst/>
            <a:cxnLst/>
            <a:rect r="r" b="b" t="t" l="l"/>
            <a:pathLst>
              <a:path h="2520379" w="7735626">
                <a:moveTo>
                  <a:pt x="0" y="0"/>
                </a:moveTo>
                <a:lnTo>
                  <a:pt x="7735626" y="0"/>
                </a:lnTo>
                <a:lnTo>
                  <a:pt x="7735626" y="2520379"/>
                </a:lnTo>
                <a:lnTo>
                  <a:pt x="0" y="2520379"/>
                </a:lnTo>
                <a:lnTo>
                  <a:pt x="0" y="0"/>
                </a:lnTo>
                <a:close/>
              </a:path>
            </a:pathLst>
          </a:custGeom>
          <a:blipFill>
            <a:blip r:embed="rId5"/>
            <a:stretch>
              <a:fillRect l="0" t="0" r="0" b="0"/>
            </a:stretch>
          </a:blipFill>
        </p:spPr>
      </p:sp>
      <p:sp>
        <p:nvSpPr>
          <p:cNvPr name="TextBox 10" id="10"/>
          <p:cNvSpPr txBox="true"/>
          <p:nvPr/>
        </p:nvSpPr>
        <p:spPr>
          <a:xfrm rot="0">
            <a:off x="546212" y="267147"/>
            <a:ext cx="1760415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1" id="11"/>
          <p:cNvSpPr txBox="true"/>
          <p:nvPr/>
        </p:nvSpPr>
        <p:spPr>
          <a:xfrm rot="0">
            <a:off x="219653" y="1564196"/>
            <a:ext cx="7854404"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4.3. Xây dựng hàm nhập – xuất</a:t>
            </a:r>
          </a:p>
          <a:p>
            <a:pPr algn="ctr">
              <a:lnSpc>
                <a:spcPts val="5107"/>
              </a:lnSpc>
              <a:spcBef>
                <a:spcPct val="0"/>
              </a:spcBef>
            </a:pPr>
          </a:p>
        </p:txBody>
      </p:sp>
      <p:sp>
        <p:nvSpPr>
          <p:cNvPr name="TextBox 12" id="12"/>
          <p:cNvSpPr txBox="true"/>
          <p:nvPr/>
        </p:nvSpPr>
        <p:spPr>
          <a:xfrm rot="0">
            <a:off x="219653" y="2423716"/>
            <a:ext cx="9613443" cy="3939077"/>
          </a:xfrm>
          <a:prstGeom prst="rect">
            <a:avLst/>
          </a:prstGeom>
        </p:spPr>
        <p:txBody>
          <a:bodyPr anchor="t" rtlCol="false" tIns="0" lIns="0" bIns="0" rIns="0">
            <a:spAutoFit/>
          </a:bodyPr>
          <a:lstStyle/>
          <a:p>
            <a:pPr algn="l" marL="750921" indent="-375460" lvl="1">
              <a:lnSpc>
                <a:spcPts val="5182"/>
              </a:lnSpc>
              <a:buFont typeface="Arial"/>
              <a:buChar char="•"/>
            </a:pPr>
            <a:r>
              <a:rPr lang="en-US" b="true" sz="3478">
                <a:solidFill>
                  <a:srgbClr val="000000"/>
                </a:solidFill>
                <a:latin typeface="Times New Roman Bold"/>
                <a:ea typeface="Times New Roman Bold"/>
                <a:cs typeface="Times New Roman Bold"/>
                <a:sym typeface="Times New Roman Bold"/>
              </a:rPr>
              <a:t>Phương thức nhap(): </a:t>
            </a:r>
            <a:r>
              <a:rPr lang="en-US" sz="3478">
                <a:solidFill>
                  <a:srgbClr val="000000"/>
                </a:solidFill>
                <a:latin typeface="Times New Roman"/>
                <a:ea typeface="Times New Roman"/>
                <a:cs typeface="Times New Roman"/>
                <a:sym typeface="Times New Roman"/>
              </a:rPr>
              <a:t>Nhập mã, tên, ngày, số lượng, tổng tiền, tỷ lệ chiết khấu. </a:t>
            </a:r>
          </a:p>
          <a:p>
            <a:pPr algn="l">
              <a:lnSpc>
                <a:spcPts val="5182"/>
              </a:lnSpc>
            </a:pPr>
            <a:r>
              <a:rPr lang="en-US" sz="3478">
                <a:solidFill>
                  <a:srgbClr val="000000"/>
                </a:solidFill>
                <a:latin typeface="Times New Roman"/>
                <a:ea typeface="Times New Roman"/>
                <a:cs typeface="Times New Roman"/>
                <a:sym typeface="Times New Roman"/>
              </a:rPr>
              <a:t>      +Tự động tính thành tiền sau chiết khấu và dùng cin.ignore().</a:t>
            </a:r>
          </a:p>
          <a:p>
            <a:pPr algn="l">
              <a:lnSpc>
                <a:spcPts val="5182"/>
              </a:lnSpc>
            </a:pPr>
          </a:p>
          <a:p>
            <a:pPr algn="l">
              <a:lnSpc>
                <a:spcPts val="5182"/>
              </a:lnSpc>
              <a:spcBef>
                <a:spcPct val="0"/>
              </a:spcBef>
            </a:pPr>
          </a:p>
        </p:txBody>
      </p:sp>
      <p:sp>
        <p:nvSpPr>
          <p:cNvPr name="TextBox 13" id="13"/>
          <p:cNvSpPr txBox="true"/>
          <p:nvPr/>
        </p:nvSpPr>
        <p:spPr>
          <a:xfrm rot="0">
            <a:off x="7762887" y="6087675"/>
            <a:ext cx="10230923" cy="5128811"/>
          </a:xfrm>
          <a:prstGeom prst="rect">
            <a:avLst/>
          </a:prstGeom>
        </p:spPr>
        <p:txBody>
          <a:bodyPr anchor="t" rtlCol="false" tIns="0" lIns="0" bIns="0" rIns="0">
            <a:spAutoFit/>
          </a:bodyPr>
          <a:lstStyle/>
          <a:p>
            <a:pPr algn="l" marL="738164" indent="-369082" lvl="1">
              <a:lnSpc>
                <a:spcPts val="5094"/>
              </a:lnSpc>
              <a:buFont typeface="Arial"/>
              <a:buChar char="•"/>
            </a:pPr>
            <a:r>
              <a:rPr lang="en-US" b="true" sz="3419">
                <a:solidFill>
                  <a:srgbClr val="000000"/>
                </a:solidFill>
                <a:latin typeface="Times New Roman Bold"/>
                <a:ea typeface="Times New Roman Bold"/>
                <a:cs typeface="Times New Roman Bold"/>
                <a:sym typeface="Times New Roman Bold"/>
              </a:rPr>
              <a:t>Phương thức xuat(): </a:t>
            </a:r>
            <a:r>
              <a:rPr lang="en-US" sz="3419">
                <a:solidFill>
                  <a:srgbClr val="000000"/>
                </a:solidFill>
                <a:latin typeface="Times New Roman"/>
                <a:ea typeface="Times New Roman"/>
                <a:cs typeface="Times New Roman"/>
                <a:sym typeface="Times New Roman"/>
              </a:rPr>
              <a:t>Lấy giá trị các thuộc tính và in ra màn hình.</a:t>
            </a:r>
          </a:p>
          <a:p>
            <a:pPr algn="just">
              <a:lnSpc>
                <a:spcPts val="5094"/>
              </a:lnSpc>
            </a:pPr>
            <a:r>
              <a:rPr lang="en-US" sz="3419">
                <a:solidFill>
                  <a:srgbClr val="000000"/>
                </a:solidFill>
                <a:latin typeface="Times New Roman"/>
                <a:ea typeface="Times New Roman"/>
                <a:cs typeface="Times New Roman"/>
                <a:sym typeface="Times New Roman"/>
              </a:rPr>
              <a:t>      </a:t>
            </a:r>
            <a:r>
              <a:rPr lang="en-US" sz="3419">
                <a:solidFill>
                  <a:srgbClr val="000000"/>
                </a:solidFill>
                <a:latin typeface="Times New Roman"/>
                <a:ea typeface="Times New Roman"/>
                <a:cs typeface="Times New Roman"/>
                <a:sym typeface="Times New Roman"/>
              </a:rPr>
              <a:t>+ </a:t>
            </a:r>
            <a:r>
              <a:rPr lang="en-US" sz="3419">
                <a:solidFill>
                  <a:srgbClr val="000000"/>
                </a:solidFill>
                <a:latin typeface="Times New Roman"/>
                <a:ea typeface="Times New Roman"/>
                <a:cs typeface="Times New Roman"/>
                <a:sym typeface="Times New Roman"/>
              </a:rPr>
              <a:t>Thời điểm gọi</a:t>
            </a:r>
          </a:p>
          <a:p>
            <a:pPr algn="just">
              <a:lnSpc>
                <a:spcPts val="5094"/>
              </a:lnSpc>
            </a:pPr>
            <a:r>
              <a:rPr lang="en-US" sz="3419">
                <a:solidFill>
                  <a:srgbClr val="000000"/>
                </a:solidFill>
                <a:latin typeface="Times New Roman"/>
                <a:ea typeface="Times New Roman"/>
                <a:cs typeface="Times New Roman"/>
                <a:sym typeface="Times New Roman"/>
              </a:rPr>
              <a:t>      + </a:t>
            </a:r>
            <a:r>
              <a:rPr lang="en-US" sz="3419">
                <a:solidFill>
                  <a:srgbClr val="000000"/>
                </a:solidFill>
                <a:latin typeface="Times New Roman"/>
                <a:ea typeface="Times New Roman"/>
                <a:cs typeface="Times New Roman"/>
                <a:sym typeface="Times New Roman"/>
              </a:rPr>
              <a:t>In danh sách ban đầu.</a:t>
            </a:r>
          </a:p>
          <a:p>
            <a:pPr algn="just">
              <a:lnSpc>
                <a:spcPts val="5094"/>
              </a:lnSpc>
            </a:pPr>
            <a:r>
              <a:rPr lang="en-US" sz="3419">
                <a:solidFill>
                  <a:srgbClr val="000000"/>
                </a:solidFill>
                <a:latin typeface="Times New Roman"/>
                <a:ea typeface="Times New Roman"/>
                <a:cs typeface="Times New Roman"/>
                <a:sym typeface="Times New Roman"/>
              </a:rPr>
              <a:t>      + </a:t>
            </a:r>
            <a:r>
              <a:rPr lang="en-US" sz="3419">
                <a:solidFill>
                  <a:srgbClr val="000000"/>
                </a:solidFill>
                <a:latin typeface="Times New Roman"/>
                <a:ea typeface="Times New Roman"/>
                <a:cs typeface="Times New Roman"/>
                <a:sym typeface="Times New Roman"/>
              </a:rPr>
              <a:t>In danh sách sau sắp xếp.</a:t>
            </a:r>
          </a:p>
          <a:p>
            <a:pPr algn="just">
              <a:lnSpc>
                <a:spcPts val="5094"/>
              </a:lnSpc>
            </a:pPr>
            <a:r>
              <a:rPr lang="en-US" sz="3419">
                <a:solidFill>
                  <a:srgbClr val="000000"/>
                </a:solidFill>
                <a:latin typeface="Times New Roman"/>
                <a:ea typeface="Times New Roman"/>
                <a:cs typeface="Times New Roman"/>
                <a:sym typeface="Times New Roman"/>
              </a:rPr>
              <a:t>      + </a:t>
            </a:r>
            <a:r>
              <a:rPr lang="en-US" sz="3419">
                <a:solidFill>
                  <a:srgbClr val="000000"/>
                </a:solidFill>
                <a:latin typeface="Times New Roman"/>
                <a:ea typeface="Times New Roman"/>
                <a:cs typeface="Times New Roman"/>
                <a:sym typeface="Times New Roman"/>
              </a:rPr>
              <a:t>Kiểm tra kết quả sau khi bổ sung hoặc xóa đơn hàng.</a:t>
            </a:r>
          </a:p>
          <a:p>
            <a:pPr algn="l">
              <a:lnSpc>
                <a:spcPts val="5094"/>
              </a:lnSpc>
            </a:pPr>
          </a:p>
          <a:p>
            <a:pPr algn="l">
              <a:lnSpc>
                <a:spcPts val="5094"/>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9144000" y="4027675"/>
            <a:ext cx="9034716" cy="5230625"/>
          </a:xfrm>
          <a:custGeom>
            <a:avLst/>
            <a:gdLst/>
            <a:ahLst/>
            <a:cxnLst/>
            <a:rect r="r" b="b" t="t" l="l"/>
            <a:pathLst>
              <a:path h="5230625" w="9034716">
                <a:moveTo>
                  <a:pt x="0" y="0"/>
                </a:moveTo>
                <a:lnTo>
                  <a:pt x="9034716" y="0"/>
                </a:lnTo>
                <a:lnTo>
                  <a:pt x="9034716" y="5230625"/>
                </a:lnTo>
                <a:lnTo>
                  <a:pt x="0" y="5230625"/>
                </a:lnTo>
                <a:lnTo>
                  <a:pt x="0" y="0"/>
                </a:lnTo>
                <a:close/>
              </a:path>
            </a:pathLst>
          </a:custGeom>
          <a:blipFill>
            <a:blip r:embed="rId4"/>
            <a:stretch>
              <a:fillRect l="0" t="0" r="0" b="0"/>
            </a:stretch>
          </a:blipFill>
        </p:spPr>
      </p:sp>
      <p:sp>
        <p:nvSpPr>
          <p:cNvPr name="TextBox 9" id="9"/>
          <p:cNvSpPr txBox="true"/>
          <p:nvPr/>
        </p:nvSpPr>
        <p:spPr>
          <a:xfrm rot="0">
            <a:off x="546212" y="267147"/>
            <a:ext cx="17632504"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0" id="10"/>
          <p:cNvSpPr txBox="true"/>
          <p:nvPr/>
        </p:nvSpPr>
        <p:spPr>
          <a:xfrm rot="0">
            <a:off x="671191" y="1876666"/>
            <a:ext cx="6832550"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4.4. Xây dựng hàm sắp xếp</a:t>
            </a:r>
          </a:p>
          <a:p>
            <a:pPr algn="ctr">
              <a:lnSpc>
                <a:spcPts val="5107"/>
              </a:lnSpc>
              <a:spcBef>
                <a:spcPct val="0"/>
              </a:spcBef>
            </a:pPr>
          </a:p>
        </p:txBody>
      </p:sp>
      <p:sp>
        <p:nvSpPr>
          <p:cNvPr name="TextBox 11" id="11"/>
          <p:cNvSpPr txBox="true"/>
          <p:nvPr/>
        </p:nvSpPr>
        <p:spPr>
          <a:xfrm rot="0">
            <a:off x="0" y="2825981"/>
            <a:ext cx="9309991" cy="4501687"/>
          </a:xfrm>
          <a:prstGeom prst="rect">
            <a:avLst/>
          </a:prstGeom>
        </p:spPr>
        <p:txBody>
          <a:bodyPr anchor="t" rtlCol="false" tIns="0" lIns="0" bIns="0" rIns="0">
            <a:spAutoFit/>
          </a:bodyPr>
          <a:lstStyle/>
          <a:p>
            <a:pPr algn="l" marL="858868" indent="-429434" lvl="1">
              <a:lnSpc>
                <a:spcPts val="5927"/>
              </a:lnSpc>
              <a:buFont typeface="Arial"/>
              <a:buChar char="•"/>
            </a:pPr>
            <a:r>
              <a:rPr lang="en-US" b="true" sz="3978">
                <a:solidFill>
                  <a:srgbClr val="000000"/>
                </a:solidFill>
                <a:latin typeface="Times New Roman Bold"/>
                <a:ea typeface="Times New Roman Bold"/>
                <a:cs typeface="Times New Roman Bold"/>
                <a:sym typeface="Times New Roman Bold"/>
              </a:rPr>
              <a:t>Thuật toán đổi chỗ trực tiếp: </a:t>
            </a:r>
            <a:r>
              <a:rPr lang="en-US" sz="3978">
                <a:solidFill>
                  <a:srgbClr val="000000"/>
                </a:solidFill>
                <a:latin typeface="Times New Roman"/>
                <a:ea typeface="Times New Roman"/>
                <a:cs typeface="Times New Roman"/>
                <a:sym typeface="Times New Roman"/>
              </a:rPr>
              <a:t>Sử dụng hai vòng lặp lồng nhau để so sánh các phần tử.</a:t>
            </a:r>
          </a:p>
          <a:p>
            <a:pPr algn="l" marL="858868" indent="-429434" lvl="1">
              <a:lnSpc>
                <a:spcPts val="5927"/>
              </a:lnSpc>
              <a:buFont typeface="Arial"/>
              <a:buChar char="•"/>
            </a:pPr>
            <a:r>
              <a:rPr lang="en-US" b="true" sz="3978">
                <a:solidFill>
                  <a:srgbClr val="000000"/>
                </a:solidFill>
                <a:latin typeface="Times New Roman Bold"/>
                <a:ea typeface="Times New Roman Bold"/>
                <a:cs typeface="Times New Roman Bold"/>
                <a:sym typeface="Times New Roman Bold"/>
              </a:rPr>
              <a:t>Thứ tự giảm dần</a:t>
            </a:r>
            <a:r>
              <a:rPr lang="en-US" sz="3978">
                <a:solidFill>
                  <a:srgbClr val="000000"/>
                </a:solidFill>
                <a:latin typeface="Times New Roman"/>
                <a:ea typeface="Times New Roman"/>
                <a:cs typeface="Times New Roman"/>
                <a:sym typeface="Times New Roman"/>
              </a:rPr>
              <a:t>: Đơn hàng có thành tiền lớn hơn được đưa lên trước.</a:t>
            </a:r>
          </a:p>
          <a:p>
            <a:pPr algn="l">
              <a:lnSpc>
                <a:spcPts val="5927"/>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9849247" y="2792411"/>
            <a:ext cx="8138206" cy="6607256"/>
          </a:xfrm>
          <a:custGeom>
            <a:avLst/>
            <a:gdLst/>
            <a:ahLst/>
            <a:cxnLst/>
            <a:rect r="r" b="b" t="t" l="l"/>
            <a:pathLst>
              <a:path h="6607256" w="8138206">
                <a:moveTo>
                  <a:pt x="0" y="0"/>
                </a:moveTo>
                <a:lnTo>
                  <a:pt x="8138206" y="0"/>
                </a:lnTo>
                <a:lnTo>
                  <a:pt x="8138206" y="6607257"/>
                </a:lnTo>
                <a:lnTo>
                  <a:pt x="0" y="6607257"/>
                </a:lnTo>
                <a:lnTo>
                  <a:pt x="0" y="0"/>
                </a:lnTo>
                <a:close/>
              </a:path>
            </a:pathLst>
          </a:custGeom>
          <a:blipFill>
            <a:blip r:embed="rId4"/>
            <a:stretch>
              <a:fillRect l="0" t="0" r="0" b="0"/>
            </a:stretch>
          </a:blipFill>
        </p:spPr>
      </p:sp>
      <p:sp>
        <p:nvSpPr>
          <p:cNvPr name="TextBox 9" id="9"/>
          <p:cNvSpPr txBox="true"/>
          <p:nvPr/>
        </p:nvSpPr>
        <p:spPr>
          <a:xfrm rot="0">
            <a:off x="546212" y="267147"/>
            <a:ext cx="17604157"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0" id="10"/>
          <p:cNvSpPr txBox="true"/>
          <p:nvPr/>
        </p:nvSpPr>
        <p:spPr>
          <a:xfrm rot="0">
            <a:off x="497732" y="1876666"/>
            <a:ext cx="7179469"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4.5. Xây dựng hàm tìm kiếm</a:t>
            </a:r>
          </a:p>
          <a:p>
            <a:pPr algn="ctr">
              <a:lnSpc>
                <a:spcPts val="5107"/>
              </a:lnSpc>
              <a:spcBef>
                <a:spcPct val="0"/>
              </a:spcBef>
            </a:pPr>
          </a:p>
        </p:txBody>
      </p:sp>
      <p:sp>
        <p:nvSpPr>
          <p:cNvPr name="TextBox 11" id="11"/>
          <p:cNvSpPr txBox="true"/>
          <p:nvPr/>
        </p:nvSpPr>
        <p:spPr>
          <a:xfrm rot="0">
            <a:off x="266087" y="3100405"/>
            <a:ext cx="9309991" cy="5857920"/>
          </a:xfrm>
          <a:prstGeom prst="rect">
            <a:avLst/>
          </a:prstGeom>
        </p:spPr>
        <p:txBody>
          <a:bodyPr anchor="t" rtlCol="false" tIns="0" lIns="0" bIns="0" rIns="0">
            <a:spAutoFit/>
          </a:bodyPr>
          <a:lstStyle/>
          <a:p>
            <a:pPr algn="l" marL="837279" indent="-418639" lvl="1">
              <a:lnSpc>
                <a:spcPts val="5778"/>
              </a:lnSpc>
              <a:buFont typeface="Arial"/>
              <a:buChar char="•"/>
            </a:pPr>
            <a:r>
              <a:rPr lang="en-US" b="true" sz="3878">
                <a:solidFill>
                  <a:srgbClr val="000000"/>
                </a:solidFill>
                <a:latin typeface="Times New Roman Bold"/>
                <a:ea typeface="Times New Roman Bold"/>
                <a:cs typeface="Times New Roman Bold"/>
                <a:sym typeface="Times New Roman Bold"/>
              </a:rPr>
              <a:t>Duyệt tuyến tính: </a:t>
            </a:r>
            <a:r>
              <a:rPr lang="en-US" sz="3878">
                <a:solidFill>
                  <a:srgbClr val="000000"/>
                </a:solidFill>
                <a:latin typeface="Times New Roman"/>
                <a:ea typeface="Times New Roman"/>
                <a:cs typeface="Times New Roman"/>
                <a:sym typeface="Times New Roman"/>
              </a:rPr>
              <a:t>Tìm kiếm đơn hàng theo mã nhập từ bàn phím.(Dừng vòng lặp ngay khi tìm thấy kết quả đầu tiên nhờ từ khóa break.)</a:t>
            </a:r>
          </a:p>
          <a:p>
            <a:pPr algn="l" marL="837279" indent="-418639" lvl="1">
              <a:lnSpc>
                <a:spcPts val="5778"/>
              </a:lnSpc>
              <a:buFont typeface="Arial"/>
              <a:buChar char="•"/>
            </a:pPr>
            <a:r>
              <a:rPr lang="en-US" b="true" sz="3878">
                <a:solidFill>
                  <a:srgbClr val="000000"/>
                </a:solidFill>
                <a:latin typeface="Times New Roman Bold"/>
                <a:ea typeface="Times New Roman Bold"/>
                <a:cs typeface="Times New Roman Bold"/>
                <a:sym typeface="Times New Roman Bold"/>
              </a:rPr>
              <a:t>Xử lý ngoại lệ: </a:t>
            </a:r>
            <a:r>
              <a:rPr lang="en-US" sz="3878">
                <a:solidFill>
                  <a:srgbClr val="000000"/>
                </a:solidFill>
                <a:latin typeface="Times New Roman"/>
                <a:ea typeface="Times New Roman"/>
                <a:cs typeface="Times New Roman"/>
                <a:sym typeface="Times New Roman"/>
              </a:rPr>
              <a:t>Sử dụng cờ hiệu timthay. (Thông báo "Không tìm thấy đơn hàng!" nếu mã không tồn tại)</a:t>
            </a:r>
          </a:p>
          <a:p>
            <a:pPr algn="l">
              <a:lnSpc>
                <a:spcPts val="5778"/>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9928777" y="3906243"/>
            <a:ext cx="8028086" cy="5352057"/>
          </a:xfrm>
          <a:custGeom>
            <a:avLst/>
            <a:gdLst/>
            <a:ahLst/>
            <a:cxnLst/>
            <a:rect r="r" b="b" t="t" l="l"/>
            <a:pathLst>
              <a:path h="5352057" w="8028086">
                <a:moveTo>
                  <a:pt x="0" y="0"/>
                </a:moveTo>
                <a:lnTo>
                  <a:pt x="8028086" y="0"/>
                </a:lnTo>
                <a:lnTo>
                  <a:pt x="8028086" y="5352057"/>
                </a:lnTo>
                <a:lnTo>
                  <a:pt x="0" y="5352057"/>
                </a:lnTo>
                <a:lnTo>
                  <a:pt x="0" y="0"/>
                </a:lnTo>
                <a:close/>
              </a:path>
            </a:pathLst>
          </a:custGeom>
          <a:blipFill>
            <a:blip r:embed="rId4"/>
            <a:stretch>
              <a:fillRect l="0" t="0" r="0" b="0"/>
            </a:stretch>
          </a:blipFill>
        </p:spPr>
      </p:sp>
      <p:sp>
        <p:nvSpPr>
          <p:cNvPr name="TextBox 9" id="9"/>
          <p:cNvSpPr txBox="true"/>
          <p:nvPr/>
        </p:nvSpPr>
        <p:spPr>
          <a:xfrm rot="0">
            <a:off x="546212" y="267147"/>
            <a:ext cx="17586141"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0" id="10"/>
          <p:cNvSpPr txBox="true"/>
          <p:nvPr/>
        </p:nvSpPr>
        <p:spPr>
          <a:xfrm rot="0">
            <a:off x="636142" y="1876666"/>
            <a:ext cx="6902648"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4.6. Xây dựng hàm bổ sung</a:t>
            </a:r>
          </a:p>
          <a:p>
            <a:pPr algn="ctr">
              <a:lnSpc>
                <a:spcPts val="5107"/>
              </a:lnSpc>
              <a:spcBef>
                <a:spcPct val="0"/>
              </a:spcBef>
            </a:pPr>
          </a:p>
        </p:txBody>
      </p:sp>
      <p:sp>
        <p:nvSpPr>
          <p:cNvPr name="TextBox 11" id="11"/>
          <p:cNvSpPr txBox="true"/>
          <p:nvPr/>
        </p:nvSpPr>
        <p:spPr>
          <a:xfrm rot="0">
            <a:off x="266087" y="3100405"/>
            <a:ext cx="9662690" cy="2924220"/>
          </a:xfrm>
          <a:prstGeom prst="rect">
            <a:avLst/>
          </a:prstGeom>
        </p:spPr>
        <p:txBody>
          <a:bodyPr anchor="t" rtlCol="false" tIns="0" lIns="0" bIns="0" rIns="0">
            <a:spAutoFit/>
          </a:bodyPr>
          <a:lstStyle/>
          <a:p>
            <a:pPr algn="l" marL="837279" indent="-418639" lvl="1">
              <a:lnSpc>
                <a:spcPts val="5778"/>
              </a:lnSpc>
              <a:buFont typeface="Arial"/>
              <a:buChar char="•"/>
            </a:pPr>
            <a:r>
              <a:rPr lang="en-US" b="true" sz="3878">
                <a:solidFill>
                  <a:srgbClr val="000000"/>
                </a:solidFill>
                <a:latin typeface="Times New Roman Bold"/>
                <a:ea typeface="Times New Roman Bold"/>
                <a:cs typeface="Times New Roman Bold"/>
                <a:sym typeface="Times New Roman Bold"/>
              </a:rPr>
              <a:t>Hàm bổ sung :</a:t>
            </a:r>
            <a:r>
              <a:rPr lang="en-US" sz="3878">
                <a:solidFill>
                  <a:srgbClr val="000000"/>
                </a:solidFill>
                <a:latin typeface="Times New Roman"/>
                <a:ea typeface="Times New Roman"/>
                <a:cs typeface="Times New Roman"/>
                <a:sym typeface="Times New Roman"/>
              </a:rPr>
              <a:t> Dịch các phần tử từ cuối sang phải để chèn vị trí mới.</a:t>
            </a:r>
          </a:p>
          <a:p>
            <a:pPr algn="l">
              <a:lnSpc>
                <a:spcPts val="5778"/>
              </a:lnSpc>
            </a:pPr>
            <a:r>
              <a:rPr lang="en-US" sz="3878">
                <a:solidFill>
                  <a:srgbClr val="000000"/>
                </a:solidFill>
                <a:latin typeface="Times New Roman"/>
                <a:ea typeface="Times New Roman"/>
                <a:cs typeface="Times New Roman"/>
                <a:sym typeface="Times New Roman"/>
              </a:rPr>
              <a:t>     (Tăng biến số lượng phần tử n lên 1 đơn vị.)</a:t>
            </a:r>
          </a:p>
          <a:p>
            <a:pPr algn="l">
              <a:lnSpc>
                <a:spcPts val="5778"/>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8877796" y="4931084"/>
            <a:ext cx="8783702" cy="4697511"/>
          </a:xfrm>
          <a:custGeom>
            <a:avLst/>
            <a:gdLst/>
            <a:ahLst/>
            <a:cxnLst/>
            <a:rect r="r" b="b" t="t" l="l"/>
            <a:pathLst>
              <a:path h="4697511" w="8783702">
                <a:moveTo>
                  <a:pt x="0" y="0"/>
                </a:moveTo>
                <a:lnTo>
                  <a:pt x="8783702" y="0"/>
                </a:lnTo>
                <a:lnTo>
                  <a:pt x="8783702" y="4697511"/>
                </a:lnTo>
                <a:lnTo>
                  <a:pt x="0" y="4697511"/>
                </a:lnTo>
                <a:lnTo>
                  <a:pt x="0" y="0"/>
                </a:lnTo>
                <a:close/>
              </a:path>
            </a:pathLst>
          </a:custGeom>
          <a:blipFill>
            <a:blip r:embed="rId4"/>
            <a:stretch>
              <a:fillRect l="0" t="0" r="0" b="0"/>
            </a:stretch>
          </a:blipFill>
        </p:spPr>
      </p:sp>
      <p:sp>
        <p:nvSpPr>
          <p:cNvPr name="TextBox 9" id="9"/>
          <p:cNvSpPr txBox="true"/>
          <p:nvPr/>
        </p:nvSpPr>
        <p:spPr>
          <a:xfrm rot="0">
            <a:off x="546212" y="267147"/>
            <a:ext cx="17741788"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0" id="10"/>
          <p:cNvSpPr txBox="true"/>
          <p:nvPr/>
        </p:nvSpPr>
        <p:spPr>
          <a:xfrm rot="0">
            <a:off x="1164780" y="1876666"/>
            <a:ext cx="5845373"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4.7. Xây dựng hàm xóa</a:t>
            </a:r>
          </a:p>
          <a:p>
            <a:pPr algn="ctr">
              <a:lnSpc>
                <a:spcPts val="5107"/>
              </a:lnSpc>
              <a:spcBef>
                <a:spcPct val="0"/>
              </a:spcBef>
            </a:pPr>
          </a:p>
        </p:txBody>
      </p:sp>
      <p:sp>
        <p:nvSpPr>
          <p:cNvPr name="TextBox 11" id="11"/>
          <p:cNvSpPr txBox="true"/>
          <p:nvPr/>
        </p:nvSpPr>
        <p:spPr>
          <a:xfrm rot="0">
            <a:off x="266087" y="3100405"/>
            <a:ext cx="9662690" cy="2190795"/>
          </a:xfrm>
          <a:prstGeom prst="rect">
            <a:avLst/>
          </a:prstGeom>
        </p:spPr>
        <p:txBody>
          <a:bodyPr anchor="t" rtlCol="false" tIns="0" lIns="0" bIns="0" rIns="0">
            <a:spAutoFit/>
          </a:bodyPr>
          <a:lstStyle/>
          <a:p>
            <a:pPr algn="l" marL="837279" indent="-418639" lvl="1">
              <a:lnSpc>
                <a:spcPts val="5778"/>
              </a:lnSpc>
              <a:spcBef>
                <a:spcPct val="0"/>
              </a:spcBef>
              <a:buFont typeface="Arial"/>
              <a:buChar char="•"/>
            </a:pPr>
            <a:r>
              <a:rPr lang="en-US" b="true" sz="3878">
                <a:solidFill>
                  <a:srgbClr val="000000"/>
                </a:solidFill>
                <a:latin typeface="Times New Roman Bold"/>
                <a:ea typeface="Times New Roman Bold"/>
                <a:cs typeface="Times New Roman Bold"/>
                <a:sym typeface="Times New Roman Bold"/>
              </a:rPr>
              <a:t>Hàm xóa:</a:t>
            </a:r>
            <a:r>
              <a:rPr lang="en-US" sz="3878">
                <a:solidFill>
                  <a:srgbClr val="000000"/>
                </a:solidFill>
                <a:latin typeface="Times New Roman"/>
                <a:ea typeface="Times New Roman"/>
                <a:cs typeface="Times New Roman"/>
                <a:sym typeface="Times New Roman"/>
              </a:rPr>
              <a:t> Dịch các phần tử phía sau sang trái để lấp chỗ trống. (Giảm biến số lượng phần tử n đi 1 đơn vị.)</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10200153" y="2839268"/>
            <a:ext cx="7461344" cy="7210121"/>
          </a:xfrm>
          <a:custGeom>
            <a:avLst/>
            <a:gdLst/>
            <a:ahLst/>
            <a:cxnLst/>
            <a:rect r="r" b="b" t="t" l="l"/>
            <a:pathLst>
              <a:path h="7210121" w="7461344">
                <a:moveTo>
                  <a:pt x="0" y="0"/>
                </a:moveTo>
                <a:lnTo>
                  <a:pt x="7461345" y="0"/>
                </a:lnTo>
                <a:lnTo>
                  <a:pt x="7461345" y="7210121"/>
                </a:lnTo>
                <a:lnTo>
                  <a:pt x="0" y="7210121"/>
                </a:lnTo>
                <a:lnTo>
                  <a:pt x="0" y="0"/>
                </a:lnTo>
                <a:close/>
              </a:path>
            </a:pathLst>
          </a:custGeom>
          <a:blipFill>
            <a:blip r:embed="rId4"/>
            <a:stretch>
              <a:fillRect l="0" t="0" r="0" b="0"/>
            </a:stretch>
          </a:blipFill>
        </p:spPr>
      </p:sp>
      <p:sp>
        <p:nvSpPr>
          <p:cNvPr name="TextBox 9" id="9"/>
          <p:cNvSpPr txBox="true"/>
          <p:nvPr/>
        </p:nvSpPr>
        <p:spPr>
          <a:xfrm rot="0">
            <a:off x="546212" y="267147"/>
            <a:ext cx="17741788"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4.TRIỂN KHAI CHƯƠNG TRÌNH</a:t>
            </a:r>
          </a:p>
        </p:txBody>
      </p:sp>
      <p:sp>
        <p:nvSpPr>
          <p:cNvPr name="TextBox 10" id="10"/>
          <p:cNvSpPr txBox="true"/>
          <p:nvPr/>
        </p:nvSpPr>
        <p:spPr>
          <a:xfrm rot="0">
            <a:off x="894794" y="1876666"/>
            <a:ext cx="9909037" cy="1357089"/>
          </a:xfrm>
          <a:prstGeom prst="rect">
            <a:avLst/>
          </a:prstGeom>
        </p:spPr>
        <p:txBody>
          <a:bodyPr anchor="t" rtlCol="false" tIns="0" lIns="0" bIns="0" rIns="0">
            <a:spAutoFit/>
          </a:bodyPr>
          <a:lstStyle/>
          <a:p>
            <a:pPr algn="ctr">
              <a:lnSpc>
                <a:spcPts val="5107"/>
              </a:lnSpc>
            </a:pPr>
            <a:r>
              <a:rPr lang="en-US" sz="4910">
                <a:solidFill>
                  <a:srgbClr val="000000"/>
                </a:solidFill>
                <a:latin typeface="Times New Roman"/>
                <a:ea typeface="Times New Roman"/>
                <a:cs typeface="Times New Roman"/>
                <a:sym typeface="Times New Roman"/>
              </a:rPr>
              <a:t>4.8. Xây dựng chương trình hàm main</a:t>
            </a:r>
          </a:p>
          <a:p>
            <a:pPr algn="ctr">
              <a:lnSpc>
                <a:spcPts val="5107"/>
              </a:lnSpc>
              <a:spcBef>
                <a:spcPct val="0"/>
              </a:spcBef>
            </a:pPr>
          </a:p>
        </p:txBody>
      </p:sp>
      <p:sp>
        <p:nvSpPr>
          <p:cNvPr name="TextBox 11" id="11"/>
          <p:cNvSpPr txBox="true"/>
          <p:nvPr/>
        </p:nvSpPr>
        <p:spPr>
          <a:xfrm rot="0">
            <a:off x="266087" y="3100405"/>
            <a:ext cx="9662690" cy="2924220"/>
          </a:xfrm>
          <a:prstGeom prst="rect">
            <a:avLst/>
          </a:prstGeom>
        </p:spPr>
        <p:txBody>
          <a:bodyPr anchor="t" rtlCol="false" tIns="0" lIns="0" bIns="0" rIns="0">
            <a:spAutoFit/>
          </a:bodyPr>
          <a:lstStyle/>
          <a:p>
            <a:pPr algn="l" marL="837279" indent="-418639" lvl="1">
              <a:lnSpc>
                <a:spcPts val="5778"/>
              </a:lnSpc>
              <a:buFont typeface="Arial"/>
              <a:buChar char="•"/>
            </a:pPr>
            <a:r>
              <a:rPr lang="en-US" b="true" sz="3878">
                <a:solidFill>
                  <a:srgbClr val="000000"/>
                </a:solidFill>
                <a:latin typeface="Times New Roman Bold"/>
                <a:ea typeface="Times New Roman Bold"/>
                <a:cs typeface="Times New Roman Bold"/>
                <a:sym typeface="Times New Roman Bold"/>
              </a:rPr>
              <a:t>Hàm main():  </a:t>
            </a:r>
            <a:r>
              <a:rPr lang="en-US" sz="3878">
                <a:solidFill>
                  <a:srgbClr val="000000"/>
                </a:solidFill>
                <a:latin typeface="Times New Roman"/>
                <a:ea typeface="Times New Roman"/>
                <a:cs typeface="Times New Roman"/>
                <a:sym typeface="Times New Roman"/>
              </a:rPr>
              <a:t>Đóng vai trò điều khiển toàn bộ chương trình, tích hợp mảng đối tượng và các thao tác quản lý dữ liệu hiệu quả.</a:t>
            </a:r>
          </a:p>
          <a:p>
            <a:pPr algn="l">
              <a:lnSpc>
                <a:spcPts val="5778"/>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TextBox 8" id="8"/>
          <p:cNvSpPr txBox="true"/>
          <p:nvPr/>
        </p:nvSpPr>
        <p:spPr>
          <a:xfrm rot="0">
            <a:off x="546212" y="267147"/>
            <a:ext cx="17680859"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5.DEMO CHƯƠNG TRÌNH CHẠY CODE</a:t>
            </a:r>
          </a:p>
        </p:txBody>
      </p:sp>
      <p:pic>
        <p:nvPicPr>
          <p:cNvPr name="Picture 9" id="9">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640770" y="1731322"/>
            <a:ext cx="15474875" cy="82296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545280" y="-39869"/>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21424" y="870923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3">
              <a:alphaModFix amt="71000"/>
            </a:blip>
            <a:stretch>
              <a:fillRect l="0" t="0" r="0" b="0"/>
            </a:stretch>
          </a:blipFill>
        </p:spPr>
      </p:sp>
      <p:grpSp>
        <p:nvGrpSpPr>
          <p:cNvPr name="Group 5" id="5"/>
          <p:cNvGrpSpPr/>
          <p:nvPr/>
        </p:nvGrpSpPr>
        <p:grpSpPr>
          <a:xfrm rot="0">
            <a:off x="-2700235" y="0"/>
            <a:ext cx="21311029" cy="1376685"/>
            <a:chOff x="0" y="0"/>
            <a:chExt cx="5612781" cy="362584"/>
          </a:xfrm>
        </p:grpSpPr>
        <p:sp>
          <p:nvSpPr>
            <p:cNvPr name="Freeform 6" id="6"/>
            <p:cNvSpPr/>
            <p:nvPr/>
          </p:nvSpPr>
          <p:spPr>
            <a:xfrm flipH="false" flipV="false" rot="0">
              <a:off x="0" y="0"/>
              <a:ext cx="5612781" cy="362584"/>
            </a:xfrm>
            <a:custGeom>
              <a:avLst/>
              <a:gdLst/>
              <a:ahLst/>
              <a:cxnLst/>
              <a:rect r="r" b="b" t="t" l="l"/>
              <a:pathLst>
                <a:path h="362584" w="5612781">
                  <a:moveTo>
                    <a:pt x="0" y="0"/>
                  </a:moveTo>
                  <a:lnTo>
                    <a:pt x="5612781" y="0"/>
                  </a:lnTo>
                  <a:lnTo>
                    <a:pt x="5612781" y="362584"/>
                  </a:lnTo>
                  <a:lnTo>
                    <a:pt x="0" y="362584"/>
                  </a:lnTo>
                  <a:close/>
                </a:path>
              </a:pathLst>
            </a:custGeom>
            <a:solidFill>
              <a:srgbClr val="2B59C3">
                <a:alpha val="71765"/>
              </a:srgbClr>
            </a:solidFill>
          </p:spPr>
        </p:sp>
        <p:sp>
          <p:nvSpPr>
            <p:cNvPr name="TextBox 7" id="7"/>
            <p:cNvSpPr txBox="true"/>
            <p:nvPr/>
          </p:nvSpPr>
          <p:spPr>
            <a:xfrm>
              <a:off x="0" y="19050"/>
              <a:ext cx="5612781" cy="343534"/>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false" flipV="false" rot="0">
            <a:off x="15777401" y="8078318"/>
            <a:ext cx="2510599" cy="2359963"/>
          </a:xfrm>
          <a:custGeom>
            <a:avLst/>
            <a:gdLst/>
            <a:ahLst/>
            <a:cxnLst/>
            <a:rect r="r" b="b" t="t" l="l"/>
            <a:pathLst>
              <a:path h="2359963" w="2510599">
                <a:moveTo>
                  <a:pt x="0" y="0"/>
                </a:moveTo>
                <a:lnTo>
                  <a:pt x="2510599" y="0"/>
                </a:lnTo>
                <a:lnTo>
                  <a:pt x="2510599" y="2359964"/>
                </a:lnTo>
                <a:lnTo>
                  <a:pt x="0" y="235996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46212" y="267147"/>
            <a:ext cx="17741788" cy="855345"/>
          </a:xfrm>
          <a:prstGeom prst="rect">
            <a:avLst/>
          </a:prstGeom>
        </p:spPr>
        <p:txBody>
          <a:bodyPr anchor="t" rtlCol="false" tIns="0" lIns="0" bIns="0" rIns="0">
            <a:spAutoFit/>
          </a:bodyPr>
          <a:lstStyle/>
          <a:p>
            <a:pPr algn="l">
              <a:lnSpc>
                <a:spcPts val="6240"/>
              </a:lnSpc>
              <a:spcBef>
                <a:spcPct val="0"/>
              </a:spcBef>
            </a:pPr>
            <a:r>
              <a:rPr lang="en-US" b="true" sz="6000">
                <a:solidFill>
                  <a:srgbClr val="000000"/>
                </a:solidFill>
                <a:latin typeface="Times New Roman Bold"/>
                <a:ea typeface="Times New Roman Bold"/>
                <a:cs typeface="Times New Roman Bold"/>
                <a:sym typeface="Times New Roman Bold"/>
              </a:rPr>
              <a:t>6. KẾT LUẬN</a:t>
            </a:r>
          </a:p>
        </p:txBody>
      </p:sp>
      <p:sp>
        <p:nvSpPr>
          <p:cNvPr name="TextBox 10" id="10"/>
          <p:cNvSpPr txBox="true"/>
          <p:nvPr/>
        </p:nvSpPr>
        <p:spPr>
          <a:xfrm rot="0">
            <a:off x="256280" y="1207558"/>
            <a:ext cx="17003020" cy="7404100"/>
          </a:xfrm>
          <a:prstGeom prst="rect">
            <a:avLst/>
          </a:prstGeom>
        </p:spPr>
        <p:txBody>
          <a:bodyPr anchor="t" rtlCol="false" tIns="0" lIns="0" bIns="0" rIns="0">
            <a:spAutoFit/>
          </a:bodyPr>
          <a:lstStyle/>
          <a:p>
            <a:pPr algn="ctr">
              <a:lnSpc>
                <a:spcPts val="7399"/>
              </a:lnSpc>
            </a:pPr>
          </a:p>
          <a:p>
            <a:pPr algn="just" marL="863599" indent="-431800" lvl="1">
              <a:lnSpc>
                <a:spcPts val="7399"/>
              </a:lnSpc>
              <a:buFont typeface="Arial"/>
              <a:buChar char="•"/>
            </a:pPr>
            <a:r>
              <a:rPr lang="en-US" sz="3999">
                <a:solidFill>
                  <a:srgbClr val="000000"/>
                </a:solidFill>
                <a:latin typeface="Times New Roman"/>
                <a:ea typeface="Times New Roman"/>
                <a:cs typeface="Times New Roman"/>
                <a:sym typeface="Times New Roman"/>
              </a:rPr>
              <a:t>Qua đề tài “Quản lý danh sách Đơn hàng bán lẻ”, nhóm đã vận dụng kiến thức Lập trình hướng đối tượng và C++ để xây dựng lớp DonHang với các chức năng nhập, in, sắp xếp, tìm kiếm, bổ sung và xóa đơn hàng.</a:t>
            </a:r>
          </a:p>
          <a:p>
            <a:pPr algn="just" marL="863599" indent="-431800" lvl="1">
              <a:lnSpc>
                <a:spcPts val="7399"/>
              </a:lnSpc>
              <a:spcBef>
                <a:spcPct val="0"/>
              </a:spcBef>
              <a:buFont typeface="Arial"/>
              <a:buChar char="•"/>
            </a:pPr>
            <a:r>
              <a:rPr lang="en-US" sz="3999">
                <a:solidFill>
                  <a:srgbClr val="000000"/>
                </a:solidFill>
                <a:latin typeface="Times New Roman"/>
                <a:ea typeface="Times New Roman"/>
                <a:cs typeface="Times New Roman"/>
                <a:sym typeface="Times New Roman"/>
              </a:rPr>
              <a:t>Qua đó, nhóm hiểu rõ hơn về mảng đối tượng và các thao tác xử lý dữ liệu. Tuy nhiên, chương trình còn hạn chế về kiểm tra dữ liệu, tổ chức hàm và lưu trữ. Nhìn chung, đề tài giúp củng cố kiến thức và rèn luyện kỹ năng phân tích, thiết kế, kiểm thử chương trình.</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54069" y="4293019"/>
            <a:ext cx="18939059" cy="1464829"/>
            <a:chOff x="0" y="0"/>
            <a:chExt cx="4988065" cy="385799"/>
          </a:xfrm>
        </p:grpSpPr>
        <p:sp>
          <p:nvSpPr>
            <p:cNvPr name="Freeform 4" id="4"/>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5" id="5"/>
            <p:cNvSpPr txBox="true"/>
            <p:nvPr/>
          </p:nvSpPr>
          <p:spPr>
            <a:xfrm>
              <a:off x="0" y="19050"/>
              <a:ext cx="4988065" cy="366749"/>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3109937" y="5877258"/>
            <a:ext cx="3980134" cy="4114800"/>
          </a:xfrm>
          <a:custGeom>
            <a:avLst/>
            <a:gdLst/>
            <a:ahLst/>
            <a:cxnLst/>
            <a:rect r="r" b="b" t="t" l="l"/>
            <a:pathLst>
              <a:path h="4114800" w="3980134">
                <a:moveTo>
                  <a:pt x="0" y="0"/>
                </a:moveTo>
                <a:lnTo>
                  <a:pt x="3980134" y="0"/>
                </a:lnTo>
                <a:lnTo>
                  <a:pt x="398013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196647"/>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8" id="8"/>
          <p:cNvSpPr/>
          <p:nvPr/>
        </p:nvSpPr>
        <p:spPr>
          <a:xfrm flipH="false" flipV="false" rot="0">
            <a:off x="16543611" y="3404967"/>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TextBox 9" id="9"/>
          <p:cNvSpPr txBox="true"/>
          <p:nvPr/>
        </p:nvSpPr>
        <p:spPr>
          <a:xfrm rot="0">
            <a:off x="3885684" y="4153237"/>
            <a:ext cx="10052567" cy="1836792"/>
          </a:xfrm>
          <a:prstGeom prst="rect">
            <a:avLst/>
          </a:prstGeom>
        </p:spPr>
        <p:txBody>
          <a:bodyPr anchor="t" rtlCol="false" tIns="0" lIns="0" bIns="0" rIns="0">
            <a:spAutoFit/>
          </a:bodyPr>
          <a:lstStyle/>
          <a:p>
            <a:pPr algn="ctr">
              <a:lnSpc>
                <a:spcPts val="13571"/>
              </a:lnSpc>
              <a:spcBef>
                <a:spcPct val="0"/>
              </a:spcBef>
            </a:pPr>
            <a:r>
              <a:rPr lang="en-US" b="true" sz="13049">
                <a:solidFill>
                  <a:srgbClr val="F4F4F4"/>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DAHXbg4Nb3M</dc:identifier>
  <dcterms:modified xsi:type="dcterms:W3CDTF">2011-08-01T06:04:30Z</dcterms:modified>
  <cp:revision>1</cp:revision>
  <dc:title>Blue Gradient Modern Illustration Computer Presentation</dc:title>
</cp:coreProperties>
</file>